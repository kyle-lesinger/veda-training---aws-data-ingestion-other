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6" r:id="rId5"/>
    <p:sldId id="259" r:id="rId6"/>
    <p:sldId id="260" r:id="rId7"/>
    <p:sldId id="275" r:id="rId8"/>
    <p:sldId id="261" r:id="rId9"/>
    <p:sldId id="262" r:id="rId10"/>
    <p:sldId id="264" r:id="rId11"/>
    <p:sldId id="265" r:id="rId12"/>
    <p:sldId id="267" r:id="rId13"/>
    <p:sldId id="263" r:id="rId14"/>
    <p:sldId id="268" r:id="rId15"/>
    <p:sldId id="269" r:id="rId16"/>
    <p:sldId id="270" r:id="rId17"/>
    <p:sldId id="271" r:id="rId18"/>
    <p:sldId id="272" r:id="rId19"/>
    <p:sldId id="274" r:id="rId20"/>
    <p:sldId id="273" r:id="rId21"/>
    <p:sldId id="277" r:id="rId22"/>
    <p:sldId id="279" r:id="rId23"/>
    <p:sldId id="280" r:id="rId24"/>
    <p:sldId id="276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1"/>
    <p:restoredTop sz="94668"/>
  </p:normalViewPr>
  <p:slideViewPr>
    <p:cSldViewPr snapToGrid="0">
      <p:cViewPr varScale="1">
        <p:scale>
          <a:sx n="136" d="100"/>
          <a:sy n="136" d="100"/>
        </p:scale>
        <p:origin x="22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-GHG-Center/ghgc-data/blob/main/ingestion-data/collections/gra2pes-ghg-monthgrid-v1.json" TargetMode="External"/><Relationship Id="rId2" Type="http://schemas.openxmlformats.org/officeDocument/2006/relationships/hyperlink" Target="https://github.com/NASA-IMPACT/veda-data/blob/main/ingestion-data/production/dataset-config/nlcd-new-urbanization.json" TargetMode="External"/><Relationship Id="rId1" Type="http://schemas.openxmlformats.org/officeDocument/2006/relationships/hyperlink" Target="https://github.com/NASA-IMPACT/veda-data/blob/main/ingestion-data/production/collections/sport-lis-vsm0_100cm-percentile.json" TargetMode="External"/><Relationship Id="rId4" Type="http://schemas.openxmlformats.org/officeDocument/2006/relationships/hyperlink" Target="https://github.com/US-GHG-Center/ghgc-data/blob/main/ingestion-data/discovery-items/gra2pes-ghg-monthgrid-v1-items.json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openveda.cloud/?.language=en" TargetMode="External"/><Relationship Id="rId2" Type="http://schemas.openxmlformats.org/officeDocument/2006/relationships/hyperlink" Target="https://sm2a.dev.openveda.cloud/home" TargetMode="External"/><Relationship Id="rId1" Type="http://schemas.openxmlformats.org/officeDocument/2006/relationships/hyperlink" Target="https://dev.openveda.cloud/api/ingest/docs" TargetMode="External"/><Relationship Id="rId5" Type="http://schemas.openxmlformats.org/officeDocument/2006/relationships/hyperlink" Target="https://github.com/NASA-IMPACT/veda-disasters" TargetMode="External"/><Relationship Id="rId4" Type="http://schemas.openxmlformats.org/officeDocument/2006/relationships/hyperlink" Target="https://dev.openveda.cloud/api/stac/collections" TargetMode="Externa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raw.githubusercontent.com/kyle-lesinger/docx2mdx_converter/refs/heads/main/markdown/test_LIS.data.mdx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-GHG-Center/ghgc-data/blob/main/ingestion-data/collections/gra2pes-ghg-monthgrid-v1.json" TargetMode="External"/><Relationship Id="rId2" Type="http://schemas.openxmlformats.org/officeDocument/2006/relationships/hyperlink" Target="https://github.com/NASA-IMPACT/veda-data/blob/main/ingestion-data/production/dataset-config/nlcd-new-urbanization.json" TargetMode="External"/><Relationship Id="rId1" Type="http://schemas.openxmlformats.org/officeDocument/2006/relationships/hyperlink" Target="https://github.com/NASA-IMPACT/veda-data/blob/main/ingestion-data/production/collections/sport-lis-vsm0_100cm-percentile.json" TargetMode="External"/><Relationship Id="rId4" Type="http://schemas.openxmlformats.org/officeDocument/2006/relationships/hyperlink" Target="https://github.com/US-GHG-Center/ghgc-data/blob/main/ingestion-data/discovery-items/gra2pes-ghg-monthgrid-v1-items.json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openveda.cloud/?.language=en" TargetMode="External"/><Relationship Id="rId2" Type="http://schemas.openxmlformats.org/officeDocument/2006/relationships/hyperlink" Target="https://sm2a.dev.openveda.cloud/home" TargetMode="External"/><Relationship Id="rId1" Type="http://schemas.openxmlformats.org/officeDocument/2006/relationships/hyperlink" Target="https://dev.openveda.cloud/api/ingest/docs" TargetMode="External"/><Relationship Id="rId5" Type="http://schemas.openxmlformats.org/officeDocument/2006/relationships/hyperlink" Target="https://github.com/NASA-IMPACT/veda-disasters" TargetMode="External"/><Relationship Id="rId4" Type="http://schemas.openxmlformats.org/officeDocument/2006/relationships/hyperlink" Target="https://dev.openveda.cloud/api/stac/collections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raw.githubusercontent.com/kyle-lesinger/docx2mdx_converter/refs/heads/main/markdown/test_LIS.data.mdx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818737-0A15-2B43-B5D3-DB8D519E6F5E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63297E-360E-C24E-BE57-2B9D4A631942}">
      <dgm:prSet phldrT="[Text]"/>
      <dgm:spPr/>
      <dgm:t>
        <a:bodyPr/>
        <a:lstStyle/>
        <a:p>
          <a:r>
            <a:rPr lang="en-US" dirty="0"/>
            <a:t>Upload data into S3 bucket</a:t>
          </a:r>
        </a:p>
      </dgm:t>
    </dgm:pt>
    <dgm:pt modelId="{4DCBE378-3244-5148-AC9C-89B3D35779DE}" type="parTrans" cxnId="{B04EE4E8-E69D-FB4A-99EC-961D4AC2959B}">
      <dgm:prSet/>
      <dgm:spPr/>
      <dgm:t>
        <a:bodyPr/>
        <a:lstStyle/>
        <a:p>
          <a:endParaRPr lang="en-US"/>
        </a:p>
      </dgm:t>
    </dgm:pt>
    <dgm:pt modelId="{9480240D-DE14-9044-81C9-03D670798D5F}" type="sibTrans" cxnId="{B04EE4E8-E69D-FB4A-99EC-961D4AC2959B}">
      <dgm:prSet/>
      <dgm:spPr/>
      <dgm:t>
        <a:bodyPr/>
        <a:lstStyle/>
        <a:p>
          <a:endParaRPr lang="en-US"/>
        </a:p>
      </dgm:t>
    </dgm:pt>
    <dgm:pt modelId="{92F21B90-BFAE-8747-B346-EF9E50A2F256}">
      <dgm:prSet phldrT="[Text]"/>
      <dgm:spPr/>
      <dgm:t>
        <a:bodyPr/>
        <a:lstStyle/>
        <a:p>
          <a:r>
            <a:rPr lang="en-US" dirty="0"/>
            <a:t>Usually start in a dev bucket</a:t>
          </a:r>
        </a:p>
      </dgm:t>
    </dgm:pt>
    <dgm:pt modelId="{28A58AC4-723A-D840-B39F-B1C28D6EF64C}" type="parTrans" cxnId="{42196172-47A2-E942-9100-ECF23B8E6652}">
      <dgm:prSet/>
      <dgm:spPr/>
      <dgm:t>
        <a:bodyPr/>
        <a:lstStyle/>
        <a:p>
          <a:endParaRPr lang="en-US"/>
        </a:p>
      </dgm:t>
    </dgm:pt>
    <dgm:pt modelId="{C0D61EEC-85AE-6F44-8D3F-232A70EE7679}" type="sibTrans" cxnId="{42196172-47A2-E942-9100-ECF23B8E6652}">
      <dgm:prSet/>
      <dgm:spPr/>
      <dgm:t>
        <a:bodyPr/>
        <a:lstStyle/>
        <a:p>
          <a:endParaRPr lang="en-US"/>
        </a:p>
      </dgm:t>
    </dgm:pt>
    <dgm:pt modelId="{DA9F4B3F-D2AD-2D40-95A1-EE5BFC5D7CF0}">
      <dgm:prSet phldrT="[Text]"/>
      <dgm:spPr/>
      <dgm:t>
        <a:bodyPr/>
        <a:lstStyle/>
        <a:p>
          <a:r>
            <a:rPr lang="en-US" dirty="0"/>
            <a:t>Create </a:t>
          </a:r>
          <a:r>
            <a:rPr lang="en-US" dirty="0" err="1"/>
            <a:t>json</a:t>
          </a:r>
          <a:r>
            <a:rPr lang="en-US" dirty="0"/>
            <a:t> config file to submit</a:t>
          </a:r>
        </a:p>
      </dgm:t>
    </dgm:pt>
    <dgm:pt modelId="{04821437-76BB-EB42-8FC3-2DEEC2EE4ACB}" type="parTrans" cxnId="{F25A4A29-06A3-D641-8F0C-9FC6C0A30456}">
      <dgm:prSet/>
      <dgm:spPr/>
      <dgm:t>
        <a:bodyPr/>
        <a:lstStyle/>
        <a:p>
          <a:endParaRPr lang="en-US"/>
        </a:p>
      </dgm:t>
    </dgm:pt>
    <dgm:pt modelId="{823302F7-8D57-5842-9FBC-D0B88D2DDF57}" type="sibTrans" cxnId="{F25A4A29-06A3-D641-8F0C-9FC6C0A30456}">
      <dgm:prSet/>
      <dgm:spPr/>
      <dgm:t>
        <a:bodyPr/>
        <a:lstStyle/>
        <a:p>
          <a:endParaRPr lang="en-US"/>
        </a:p>
      </dgm:t>
    </dgm:pt>
    <dgm:pt modelId="{FEC96567-26CC-E547-9AE8-2C7FBEDCF201}">
      <dgm:prSet phldrT="[Text]"/>
      <dgm:spPr/>
      <dgm:t>
        <a:bodyPr/>
        <a:lstStyle/>
        <a:p>
          <a:r>
            <a:rPr lang="en-US" dirty="0"/>
            <a:t>Example config</a:t>
          </a:r>
        </a:p>
      </dgm:t>
    </dgm:pt>
    <dgm:pt modelId="{B99DDA52-23CA-634D-8468-C8E7F5AA59AE}" type="parTrans" cxnId="{7767D1A9-1522-C643-8CDF-3C9668177641}">
      <dgm:prSet/>
      <dgm:spPr/>
      <dgm:t>
        <a:bodyPr/>
        <a:lstStyle/>
        <a:p>
          <a:endParaRPr lang="en-US"/>
        </a:p>
      </dgm:t>
    </dgm:pt>
    <dgm:pt modelId="{8AED84FB-2D04-9E44-A443-687E6526EF1D}" type="sibTrans" cxnId="{7767D1A9-1522-C643-8CDF-3C9668177641}">
      <dgm:prSet/>
      <dgm:spPr/>
      <dgm:t>
        <a:bodyPr/>
        <a:lstStyle/>
        <a:p>
          <a:endParaRPr lang="en-US"/>
        </a:p>
      </dgm:t>
    </dgm:pt>
    <dgm:pt modelId="{BBFD6977-E603-A44E-B4B1-6F7AB59EF493}">
      <dgm:prSet phldrT="[Text]"/>
      <dgm:spPr/>
      <dgm:t>
        <a:bodyPr/>
        <a:lstStyle/>
        <a:p>
          <a:r>
            <a:rPr lang="en-US" dirty="0"/>
            <a:t>Run either Ingest API, Airflow, or Ingest UI</a:t>
          </a:r>
        </a:p>
      </dgm:t>
    </dgm:pt>
    <dgm:pt modelId="{F340BD06-AE98-084F-B5F6-E49D2F81A113}" type="parTrans" cxnId="{6D7D2C25-4AE4-D64C-8F9B-78A6FBD85603}">
      <dgm:prSet/>
      <dgm:spPr/>
      <dgm:t>
        <a:bodyPr/>
        <a:lstStyle/>
        <a:p>
          <a:endParaRPr lang="en-US"/>
        </a:p>
      </dgm:t>
    </dgm:pt>
    <dgm:pt modelId="{ACFEFFCD-A1FA-E945-8448-56A765F8454B}" type="sibTrans" cxnId="{6D7D2C25-4AE4-D64C-8F9B-78A6FBD85603}">
      <dgm:prSet/>
      <dgm:spPr/>
      <dgm:t>
        <a:bodyPr/>
        <a:lstStyle/>
        <a:p>
          <a:endParaRPr lang="en-US"/>
        </a:p>
      </dgm:t>
    </dgm:pt>
    <dgm:pt modelId="{C68227B4-6AA1-6141-A28B-FF8710B1AD90}">
      <dgm:prSet phldrT="[Text]"/>
      <dgm:spPr/>
      <dgm:t>
        <a:bodyPr/>
        <a:lstStyle/>
        <a:p>
          <a:r>
            <a:rPr lang="en-US" dirty="0"/>
            <a:t>Depends on the final outcome (single asset or multi-item asset)</a:t>
          </a:r>
        </a:p>
      </dgm:t>
    </dgm:pt>
    <dgm:pt modelId="{B321B0BC-F394-8C43-9F9D-6B6F959BBA19}" type="parTrans" cxnId="{A6075E40-A486-8040-90E7-7EBD39832C64}">
      <dgm:prSet/>
      <dgm:spPr/>
      <dgm:t>
        <a:bodyPr/>
        <a:lstStyle/>
        <a:p>
          <a:endParaRPr lang="en-US"/>
        </a:p>
      </dgm:t>
    </dgm:pt>
    <dgm:pt modelId="{DC62AC63-5D64-194C-BAC6-6357C5D1C147}" type="sibTrans" cxnId="{A6075E40-A486-8040-90E7-7EBD39832C64}">
      <dgm:prSet/>
      <dgm:spPr/>
      <dgm:t>
        <a:bodyPr/>
        <a:lstStyle/>
        <a:p>
          <a:endParaRPr lang="en-US"/>
        </a:p>
      </dgm:t>
    </dgm:pt>
    <dgm:pt modelId="{E56F85AB-2BA9-9F48-9C7B-3065875959D0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Collection</a:t>
          </a:r>
          <a:endParaRPr lang="en-US" dirty="0"/>
        </a:p>
      </dgm:t>
    </dgm:pt>
    <dgm:pt modelId="{E3A17ABB-8FD0-0940-9D0B-AB037668F142}" type="parTrans" cxnId="{1A4BCF42-DB3F-7047-B640-866DE0C3FE07}">
      <dgm:prSet/>
      <dgm:spPr/>
      <dgm:t>
        <a:bodyPr/>
        <a:lstStyle/>
        <a:p>
          <a:endParaRPr lang="en-US"/>
        </a:p>
      </dgm:t>
    </dgm:pt>
    <dgm:pt modelId="{19E15BF9-D135-AA4A-B10A-607AF0B76B56}" type="sibTrans" cxnId="{1A4BCF42-DB3F-7047-B640-866DE0C3FE07}">
      <dgm:prSet/>
      <dgm:spPr/>
      <dgm:t>
        <a:bodyPr/>
        <a:lstStyle/>
        <a:p>
          <a:endParaRPr lang="en-US"/>
        </a:p>
      </dgm:t>
    </dgm:pt>
    <dgm:pt modelId="{00DE110E-2D7E-1E40-ACDD-437D31514F92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2"/>
            </a:rPr>
            <a:t>Dataset</a:t>
          </a:r>
          <a:endParaRPr lang="en-US" dirty="0"/>
        </a:p>
      </dgm:t>
    </dgm:pt>
    <dgm:pt modelId="{8AE8E43C-8625-A24E-A5ED-F7908610282E}" type="parTrans" cxnId="{C7DFFD21-8C7B-4547-8583-78707BCBBAC3}">
      <dgm:prSet/>
      <dgm:spPr/>
      <dgm:t>
        <a:bodyPr/>
        <a:lstStyle/>
        <a:p>
          <a:endParaRPr lang="en-US"/>
        </a:p>
      </dgm:t>
    </dgm:pt>
    <dgm:pt modelId="{9746B66E-3E64-224B-9132-09ECBBE79F22}" type="sibTrans" cxnId="{C7DFFD21-8C7B-4547-8583-78707BCBBAC3}">
      <dgm:prSet/>
      <dgm:spPr/>
      <dgm:t>
        <a:bodyPr/>
        <a:lstStyle/>
        <a:p>
          <a:endParaRPr lang="en-US"/>
        </a:p>
      </dgm:t>
    </dgm:pt>
    <dgm:pt modelId="{D5B14D9F-4A90-314A-A37E-7E7C5D0D902F}">
      <dgm:prSet phldrT="[Text]"/>
      <dgm:spPr/>
      <dgm:t>
        <a:bodyPr/>
        <a:lstStyle/>
        <a:p>
          <a:r>
            <a:rPr lang="en-US" dirty="0"/>
            <a:t>Multi-asset</a:t>
          </a:r>
        </a:p>
      </dgm:t>
    </dgm:pt>
    <dgm:pt modelId="{B78C866D-8159-3049-90E3-C12F3F836E1F}" type="parTrans" cxnId="{8534CB18-E821-DE48-BAFF-E7B12EA27151}">
      <dgm:prSet/>
      <dgm:spPr/>
      <dgm:t>
        <a:bodyPr/>
        <a:lstStyle/>
        <a:p>
          <a:endParaRPr lang="en-US"/>
        </a:p>
      </dgm:t>
    </dgm:pt>
    <dgm:pt modelId="{C7A2534C-2A2E-454A-B556-F9A3845018D9}" type="sibTrans" cxnId="{8534CB18-E821-DE48-BAFF-E7B12EA27151}">
      <dgm:prSet/>
      <dgm:spPr/>
      <dgm:t>
        <a:bodyPr/>
        <a:lstStyle/>
        <a:p>
          <a:endParaRPr lang="en-US"/>
        </a:p>
      </dgm:t>
    </dgm:pt>
    <dgm:pt modelId="{49C65E2E-6829-5041-BD7C-1117672251AC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3"/>
            </a:rPr>
            <a:t>Coll. </a:t>
          </a:r>
          <a:r>
            <a:rPr lang="en-US" dirty="0"/>
            <a:t>&amp; </a:t>
          </a:r>
          <a:r>
            <a:rPr lang="en-US" dirty="0">
              <a:hlinkClick xmlns:r="http://schemas.openxmlformats.org/officeDocument/2006/relationships" r:id="rId4"/>
            </a:rPr>
            <a:t>Discover</a:t>
          </a:r>
          <a:endParaRPr lang="en-US" dirty="0"/>
        </a:p>
      </dgm:t>
    </dgm:pt>
    <dgm:pt modelId="{66F5CF06-130F-2B4E-8EEC-2E1854972F94}" type="parTrans" cxnId="{75C21BFE-5559-624D-B1AA-0FBAD5C9018E}">
      <dgm:prSet/>
      <dgm:spPr/>
      <dgm:t>
        <a:bodyPr/>
        <a:lstStyle/>
        <a:p>
          <a:endParaRPr lang="en-US"/>
        </a:p>
      </dgm:t>
    </dgm:pt>
    <dgm:pt modelId="{F144CAF1-EC90-EF49-825E-1AFD80F92503}" type="sibTrans" cxnId="{75C21BFE-5559-624D-B1AA-0FBAD5C9018E}">
      <dgm:prSet/>
      <dgm:spPr/>
      <dgm:t>
        <a:bodyPr/>
        <a:lstStyle/>
        <a:p>
          <a:endParaRPr lang="en-US"/>
        </a:p>
      </dgm:t>
    </dgm:pt>
    <dgm:pt modelId="{580D2A45-924F-A441-B8AF-EF013B1F45F6}" type="pres">
      <dgm:prSet presAssocID="{C2818737-0A15-2B43-B5D3-DB8D519E6F5E}" presName="rootnode" presStyleCnt="0">
        <dgm:presLayoutVars>
          <dgm:chMax/>
          <dgm:chPref/>
          <dgm:dir/>
          <dgm:animLvl val="lvl"/>
        </dgm:presLayoutVars>
      </dgm:prSet>
      <dgm:spPr/>
    </dgm:pt>
    <dgm:pt modelId="{3B2E1B81-EFED-C14E-800C-02B6733C3B7B}" type="pres">
      <dgm:prSet presAssocID="{3963297E-360E-C24E-BE57-2B9D4A631942}" presName="composite" presStyleCnt="0"/>
      <dgm:spPr/>
    </dgm:pt>
    <dgm:pt modelId="{2DA0CA46-E1BB-8E48-933A-9B2E42B1A77C}" type="pres">
      <dgm:prSet presAssocID="{3963297E-360E-C24E-BE57-2B9D4A631942}" presName="bentUpArrow1" presStyleLbl="alignImgPlace1" presStyleIdx="0" presStyleCnt="2" custScaleX="114096" custScaleY="55526" custLinFactNeighborX="3769" custLinFactNeighborY="-19614"/>
      <dgm:spPr/>
    </dgm:pt>
    <dgm:pt modelId="{CBBD47DA-CCC3-5344-856C-132AF1F8E0EB}" type="pres">
      <dgm:prSet presAssocID="{3963297E-360E-C24E-BE57-2B9D4A631942}" presName="ParentText" presStyleLbl="node1" presStyleIdx="0" presStyleCnt="3" custScaleY="73294" custLinFactNeighborX="-13159" custLinFactNeighborY="9575">
        <dgm:presLayoutVars>
          <dgm:chMax val="1"/>
          <dgm:chPref val="1"/>
          <dgm:bulletEnabled val="1"/>
        </dgm:presLayoutVars>
      </dgm:prSet>
      <dgm:spPr/>
    </dgm:pt>
    <dgm:pt modelId="{5B656D70-C14E-B14F-919F-1D52B6609D06}" type="pres">
      <dgm:prSet presAssocID="{3963297E-360E-C24E-BE57-2B9D4A631942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10A362E7-2D81-2240-8695-19530C357268}" type="pres">
      <dgm:prSet presAssocID="{9480240D-DE14-9044-81C9-03D670798D5F}" presName="sibTrans" presStyleCnt="0"/>
      <dgm:spPr/>
    </dgm:pt>
    <dgm:pt modelId="{846B6A9A-6EC2-8847-AFCD-0C0C4BB08103}" type="pres">
      <dgm:prSet presAssocID="{DA9F4B3F-D2AD-2D40-95A1-EE5BFC5D7CF0}" presName="composite" presStyleCnt="0"/>
      <dgm:spPr/>
    </dgm:pt>
    <dgm:pt modelId="{4DBBBD0A-DE3E-144B-BE6B-D115B68AA2D8}" type="pres">
      <dgm:prSet presAssocID="{DA9F4B3F-D2AD-2D40-95A1-EE5BFC5D7CF0}" presName="bentUpArrow1" presStyleLbl="alignImgPlace1" presStyleIdx="1" presStyleCnt="2" custScaleX="97824" custScaleY="70037" custLinFactNeighborX="43300" custLinFactNeighborY="-23218"/>
      <dgm:spPr/>
    </dgm:pt>
    <dgm:pt modelId="{539F66EE-5ED9-DB46-A028-86D776E5389D}" type="pres">
      <dgm:prSet presAssocID="{DA9F4B3F-D2AD-2D40-95A1-EE5BFC5D7CF0}" presName="ParentText" presStyleLbl="node1" presStyleIdx="1" presStyleCnt="3" custScaleY="76557" custLinFactNeighborX="11998" custLinFactNeighborY="-1143">
        <dgm:presLayoutVars>
          <dgm:chMax val="1"/>
          <dgm:chPref val="1"/>
          <dgm:bulletEnabled val="1"/>
        </dgm:presLayoutVars>
      </dgm:prSet>
      <dgm:spPr/>
    </dgm:pt>
    <dgm:pt modelId="{3759DB62-9AA0-FA41-AFC0-CD072AD60C47}" type="pres">
      <dgm:prSet presAssocID="{DA9F4B3F-D2AD-2D40-95A1-EE5BFC5D7CF0}" presName="ChildText" presStyleLbl="revTx" presStyleIdx="1" presStyleCnt="3" custScaleX="109515" custLinFactNeighborX="24892" custLinFactNeighborY="-3948">
        <dgm:presLayoutVars>
          <dgm:chMax val="0"/>
          <dgm:chPref val="0"/>
          <dgm:bulletEnabled val="1"/>
        </dgm:presLayoutVars>
      </dgm:prSet>
      <dgm:spPr/>
    </dgm:pt>
    <dgm:pt modelId="{A36B73DE-2ECC-044C-BEF8-9DD4570C72BD}" type="pres">
      <dgm:prSet presAssocID="{823302F7-8D57-5842-9FBC-D0B88D2DDF57}" presName="sibTrans" presStyleCnt="0"/>
      <dgm:spPr/>
    </dgm:pt>
    <dgm:pt modelId="{73296A10-4753-0F45-8A55-6EC9471C2957}" type="pres">
      <dgm:prSet presAssocID="{BBFD6977-E603-A44E-B4B1-6F7AB59EF493}" presName="composite" presStyleCnt="0"/>
      <dgm:spPr/>
    </dgm:pt>
    <dgm:pt modelId="{7D30A045-CB83-4F48-8C09-D24F8C18F999}" type="pres">
      <dgm:prSet presAssocID="{BBFD6977-E603-A44E-B4B1-6F7AB59EF493}" presName="ParentText" presStyleLbl="node1" presStyleIdx="2" presStyleCnt="3" custScaleY="82143" custLinFactNeighborX="25611" custLinFactNeighborY="-4340">
        <dgm:presLayoutVars>
          <dgm:chMax val="1"/>
          <dgm:chPref val="1"/>
          <dgm:bulletEnabled val="1"/>
        </dgm:presLayoutVars>
      </dgm:prSet>
      <dgm:spPr/>
    </dgm:pt>
    <dgm:pt modelId="{28F90079-6FEB-5040-8DF7-ACC7EFADFC37}" type="pres">
      <dgm:prSet presAssocID="{BBFD6977-E603-A44E-B4B1-6F7AB59EF493}" presName="FinalChildText" presStyleLbl="revTx" presStyleIdx="2" presStyleCnt="3" custScaleX="64349" custLinFactNeighborX="22309" custLinFactNeighborY="2219">
        <dgm:presLayoutVars>
          <dgm:chMax val="0"/>
          <dgm:chPref val="0"/>
          <dgm:bulletEnabled val="1"/>
        </dgm:presLayoutVars>
      </dgm:prSet>
      <dgm:spPr/>
    </dgm:pt>
  </dgm:ptLst>
  <dgm:cxnLst>
    <dgm:cxn modelId="{E7DC0715-F669-5A4E-A88E-5025867F9F3D}" type="presOf" srcId="{FEC96567-26CC-E547-9AE8-2C7FBEDCF201}" destId="{3759DB62-9AA0-FA41-AFC0-CD072AD60C47}" srcOrd="0" destOrd="0" presId="urn:microsoft.com/office/officeart/2005/8/layout/StepDownProcess"/>
    <dgm:cxn modelId="{8534CB18-E821-DE48-BAFF-E7B12EA27151}" srcId="{FEC96567-26CC-E547-9AE8-2C7FBEDCF201}" destId="{D5B14D9F-4A90-314A-A37E-7E7C5D0D902F}" srcOrd="2" destOrd="0" parTransId="{B78C866D-8159-3049-90E3-C12F3F836E1F}" sibTransId="{C7A2534C-2A2E-454A-B556-F9A3845018D9}"/>
    <dgm:cxn modelId="{2696511E-C8C5-4A48-B3EB-F1CE203ECD5B}" type="presOf" srcId="{BBFD6977-E603-A44E-B4B1-6F7AB59EF493}" destId="{7D30A045-CB83-4F48-8C09-D24F8C18F999}" srcOrd="0" destOrd="0" presId="urn:microsoft.com/office/officeart/2005/8/layout/StepDownProcess"/>
    <dgm:cxn modelId="{C7DFFD21-8C7B-4547-8583-78707BCBBAC3}" srcId="{FEC96567-26CC-E547-9AE8-2C7FBEDCF201}" destId="{00DE110E-2D7E-1E40-ACDD-437D31514F92}" srcOrd="1" destOrd="0" parTransId="{8AE8E43C-8625-A24E-A5ED-F7908610282E}" sibTransId="{9746B66E-3E64-224B-9132-09ECBBE79F22}"/>
    <dgm:cxn modelId="{6D7D2C25-4AE4-D64C-8F9B-78A6FBD85603}" srcId="{C2818737-0A15-2B43-B5D3-DB8D519E6F5E}" destId="{BBFD6977-E603-A44E-B4B1-6F7AB59EF493}" srcOrd="2" destOrd="0" parTransId="{F340BD06-AE98-084F-B5F6-E49D2F81A113}" sibTransId="{ACFEFFCD-A1FA-E945-8448-56A765F8454B}"/>
    <dgm:cxn modelId="{B2920126-726C-DD4C-B9EF-8817056FF5AB}" type="presOf" srcId="{49C65E2E-6829-5041-BD7C-1117672251AC}" destId="{3759DB62-9AA0-FA41-AFC0-CD072AD60C47}" srcOrd="0" destOrd="4" presId="urn:microsoft.com/office/officeart/2005/8/layout/StepDownProcess"/>
    <dgm:cxn modelId="{F25A4A29-06A3-D641-8F0C-9FC6C0A30456}" srcId="{C2818737-0A15-2B43-B5D3-DB8D519E6F5E}" destId="{DA9F4B3F-D2AD-2D40-95A1-EE5BFC5D7CF0}" srcOrd="1" destOrd="0" parTransId="{04821437-76BB-EB42-8FC3-2DEEC2EE4ACB}" sibTransId="{823302F7-8D57-5842-9FBC-D0B88D2DDF57}"/>
    <dgm:cxn modelId="{A6075E40-A486-8040-90E7-7EBD39832C64}" srcId="{BBFD6977-E603-A44E-B4B1-6F7AB59EF493}" destId="{C68227B4-6AA1-6141-A28B-FF8710B1AD90}" srcOrd="0" destOrd="0" parTransId="{B321B0BC-F394-8C43-9F9D-6B6F959BBA19}" sibTransId="{DC62AC63-5D64-194C-BAC6-6357C5D1C147}"/>
    <dgm:cxn modelId="{1A4BCF42-DB3F-7047-B640-866DE0C3FE07}" srcId="{FEC96567-26CC-E547-9AE8-2C7FBEDCF201}" destId="{E56F85AB-2BA9-9F48-9C7B-3065875959D0}" srcOrd="0" destOrd="0" parTransId="{E3A17ABB-8FD0-0940-9D0B-AB037668F142}" sibTransId="{19E15BF9-D135-AA4A-B10A-607AF0B76B56}"/>
    <dgm:cxn modelId="{9FF77A4E-6C8D-A744-BD92-DA9C7C123E30}" type="presOf" srcId="{E56F85AB-2BA9-9F48-9C7B-3065875959D0}" destId="{3759DB62-9AA0-FA41-AFC0-CD072AD60C47}" srcOrd="0" destOrd="1" presId="urn:microsoft.com/office/officeart/2005/8/layout/StepDownProcess"/>
    <dgm:cxn modelId="{D4167470-16ED-F747-8902-37746CE4F5AB}" type="presOf" srcId="{D5B14D9F-4A90-314A-A37E-7E7C5D0D902F}" destId="{3759DB62-9AA0-FA41-AFC0-CD072AD60C47}" srcOrd="0" destOrd="3" presId="urn:microsoft.com/office/officeart/2005/8/layout/StepDownProcess"/>
    <dgm:cxn modelId="{42196172-47A2-E942-9100-ECF23B8E6652}" srcId="{3963297E-360E-C24E-BE57-2B9D4A631942}" destId="{92F21B90-BFAE-8747-B346-EF9E50A2F256}" srcOrd="0" destOrd="0" parTransId="{28A58AC4-723A-D840-B39F-B1C28D6EF64C}" sibTransId="{C0D61EEC-85AE-6F44-8D3F-232A70EE7679}"/>
    <dgm:cxn modelId="{2DE0078D-AD4F-7043-A4F4-12E86B3670AA}" type="presOf" srcId="{00DE110E-2D7E-1E40-ACDD-437D31514F92}" destId="{3759DB62-9AA0-FA41-AFC0-CD072AD60C47}" srcOrd="0" destOrd="2" presId="urn:microsoft.com/office/officeart/2005/8/layout/StepDownProcess"/>
    <dgm:cxn modelId="{4BDBEE9E-CEDE-2242-9FCB-1F2F73F3BD3E}" type="presOf" srcId="{C2818737-0A15-2B43-B5D3-DB8D519E6F5E}" destId="{580D2A45-924F-A441-B8AF-EF013B1F45F6}" srcOrd="0" destOrd="0" presId="urn:microsoft.com/office/officeart/2005/8/layout/StepDownProcess"/>
    <dgm:cxn modelId="{3724D2A0-CE8D-C948-B737-AB8F7EE01A76}" type="presOf" srcId="{3963297E-360E-C24E-BE57-2B9D4A631942}" destId="{CBBD47DA-CCC3-5344-856C-132AF1F8E0EB}" srcOrd="0" destOrd="0" presId="urn:microsoft.com/office/officeart/2005/8/layout/StepDownProcess"/>
    <dgm:cxn modelId="{7767D1A9-1522-C643-8CDF-3C9668177641}" srcId="{DA9F4B3F-D2AD-2D40-95A1-EE5BFC5D7CF0}" destId="{FEC96567-26CC-E547-9AE8-2C7FBEDCF201}" srcOrd="0" destOrd="0" parTransId="{B99DDA52-23CA-634D-8468-C8E7F5AA59AE}" sibTransId="{8AED84FB-2D04-9E44-A443-687E6526EF1D}"/>
    <dgm:cxn modelId="{51662DB5-B71B-4741-BDCA-80E554F91354}" type="presOf" srcId="{DA9F4B3F-D2AD-2D40-95A1-EE5BFC5D7CF0}" destId="{539F66EE-5ED9-DB46-A028-86D776E5389D}" srcOrd="0" destOrd="0" presId="urn:microsoft.com/office/officeart/2005/8/layout/StepDownProcess"/>
    <dgm:cxn modelId="{B57F54CB-2375-F24D-AC76-730D6ED049E7}" type="presOf" srcId="{C68227B4-6AA1-6141-A28B-FF8710B1AD90}" destId="{28F90079-6FEB-5040-8DF7-ACC7EFADFC37}" srcOrd="0" destOrd="0" presId="urn:microsoft.com/office/officeart/2005/8/layout/StepDownProcess"/>
    <dgm:cxn modelId="{B04EE4E8-E69D-FB4A-99EC-961D4AC2959B}" srcId="{C2818737-0A15-2B43-B5D3-DB8D519E6F5E}" destId="{3963297E-360E-C24E-BE57-2B9D4A631942}" srcOrd="0" destOrd="0" parTransId="{4DCBE378-3244-5148-AC9C-89B3D35779DE}" sibTransId="{9480240D-DE14-9044-81C9-03D670798D5F}"/>
    <dgm:cxn modelId="{75C21BFE-5559-624D-B1AA-0FBAD5C9018E}" srcId="{D5B14D9F-4A90-314A-A37E-7E7C5D0D902F}" destId="{49C65E2E-6829-5041-BD7C-1117672251AC}" srcOrd="0" destOrd="0" parTransId="{66F5CF06-130F-2B4E-8EEC-2E1854972F94}" sibTransId="{F144CAF1-EC90-EF49-825E-1AFD80F92503}"/>
    <dgm:cxn modelId="{106CC8FE-DF05-1F46-86E3-CD2856499E0C}" type="presOf" srcId="{92F21B90-BFAE-8747-B346-EF9E50A2F256}" destId="{5B656D70-C14E-B14F-919F-1D52B6609D06}" srcOrd="0" destOrd="0" presId="urn:microsoft.com/office/officeart/2005/8/layout/StepDownProcess"/>
    <dgm:cxn modelId="{930E3671-4189-1C49-8A67-521FD780742B}" type="presParOf" srcId="{580D2A45-924F-A441-B8AF-EF013B1F45F6}" destId="{3B2E1B81-EFED-C14E-800C-02B6733C3B7B}" srcOrd="0" destOrd="0" presId="urn:microsoft.com/office/officeart/2005/8/layout/StepDownProcess"/>
    <dgm:cxn modelId="{EAD53231-E8CF-9745-AC95-2EB6F3E887DD}" type="presParOf" srcId="{3B2E1B81-EFED-C14E-800C-02B6733C3B7B}" destId="{2DA0CA46-E1BB-8E48-933A-9B2E42B1A77C}" srcOrd="0" destOrd="0" presId="urn:microsoft.com/office/officeart/2005/8/layout/StepDownProcess"/>
    <dgm:cxn modelId="{E66382D8-B561-2E4E-BBE1-9224718D502B}" type="presParOf" srcId="{3B2E1B81-EFED-C14E-800C-02B6733C3B7B}" destId="{CBBD47DA-CCC3-5344-856C-132AF1F8E0EB}" srcOrd="1" destOrd="0" presId="urn:microsoft.com/office/officeart/2005/8/layout/StepDownProcess"/>
    <dgm:cxn modelId="{964C94CD-D64E-064B-BDA5-898D6EFC2996}" type="presParOf" srcId="{3B2E1B81-EFED-C14E-800C-02B6733C3B7B}" destId="{5B656D70-C14E-B14F-919F-1D52B6609D06}" srcOrd="2" destOrd="0" presId="urn:microsoft.com/office/officeart/2005/8/layout/StepDownProcess"/>
    <dgm:cxn modelId="{82798184-68E3-AC4C-BBFE-BBB715210EE5}" type="presParOf" srcId="{580D2A45-924F-A441-B8AF-EF013B1F45F6}" destId="{10A362E7-2D81-2240-8695-19530C357268}" srcOrd="1" destOrd="0" presId="urn:microsoft.com/office/officeart/2005/8/layout/StepDownProcess"/>
    <dgm:cxn modelId="{24FF6C66-9517-8F49-97C1-FC4EF9C08C65}" type="presParOf" srcId="{580D2A45-924F-A441-B8AF-EF013B1F45F6}" destId="{846B6A9A-6EC2-8847-AFCD-0C0C4BB08103}" srcOrd="2" destOrd="0" presId="urn:microsoft.com/office/officeart/2005/8/layout/StepDownProcess"/>
    <dgm:cxn modelId="{DA4FDC1A-6223-694F-818B-185C69F0377A}" type="presParOf" srcId="{846B6A9A-6EC2-8847-AFCD-0C0C4BB08103}" destId="{4DBBBD0A-DE3E-144B-BE6B-D115B68AA2D8}" srcOrd="0" destOrd="0" presId="urn:microsoft.com/office/officeart/2005/8/layout/StepDownProcess"/>
    <dgm:cxn modelId="{ECC01939-525C-6C40-B59C-540731F013FA}" type="presParOf" srcId="{846B6A9A-6EC2-8847-AFCD-0C0C4BB08103}" destId="{539F66EE-5ED9-DB46-A028-86D776E5389D}" srcOrd="1" destOrd="0" presId="urn:microsoft.com/office/officeart/2005/8/layout/StepDownProcess"/>
    <dgm:cxn modelId="{2DCE4A8E-62D5-0344-9A70-560AEF32CD91}" type="presParOf" srcId="{846B6A9A-6EC2-8847-AFCD-0C0C4BB08103}" destId="{3759DB62-9AA0-FA41-AFC0-CD072AD60C47}" srcOrd="2" destOrd="0" presId="urn:microsoft.com/office/officeart/2005/8/layout/StepDownProcess"/>
    <dgm:cxn modelId="{14F54536-022D-814F-8479-5C8B0E1077C6}" type="presParOf" srcId="{580D2A45-924F-A441-B8AF-EF013B1F45F6}" destId="{A36B73DE-2ECC-044C-BEF8-9DD4570C72BD}" srcOrd="3" destOrd="0" presId="urn:microsoft.com/office/officeart/2005/8/layout/StepDownProcess"/>
    <dgm:cxn modelId="{82DAB47A-775E-9848-AF13-58A8040632BD}" type="presParOf" srcId="{580D2A45-924F-A441-B8AF-EF013B1F45F6}" destId="{73296A10-4753-0F45-8A55-6EC9471C2957}" srcOrd="4" destOrd="0" presId="urn:microsoft.com/office/officeart/2005/8/layout/StepDownProcess"/>
    <dgm:cxn modelId="{FA80FD35-B12B-7D40-94B8-8152C63E6F27}" type="presParOf" srcId="{73296A10-4753-0F45-8A55-6EC9471C2957}" destId="{7D30A045-CB83-4F48-8C09-D24F8C18F999}" srcOrd="0" destOrd="0" presId="urn:microsoft.com/office/officeart/2005/8/layout/StepDownProcess"/>
    <dgm:cxn modelId="{D5672DB4-B938-9C41-B6D9-8C5B258425F2}" type="presParOf" srcId="{73296A10-4753-0F45-8A55-6EC9471C2957}" destId="{28F90079-6FEB-5040-8DF7-ACC7EFADFC37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DD2331-0A89-7F4E-9857-81F7C24D85A7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E1DA0F-FF32-2044-BBE6-731EF5389796}">
      <dgm:prSet phldrT="[Text]"/>
      <dgm:spPr/>
      <dgm:t>
        <a:bodyPr/>
        <a:lstStyle/>
        <a:p>
          <a:r>
            <a:rPr lang="en-US" dirty="0"/>
            <a:t>Format</a:t>
          </a:r>
        </a:p>
      </dgm:t>
    </dgm:pt>
    <dgm:pt modelId="{CA46DB48-1C56-B147-9393-55AF4611F7DB}" type="parTrans" cxnId="{AB407EE7-3FAF-1345-8D54-1798C90DA17E}">
      <dgm:prSet/>
      <dgm:spPr/>
      <dgm:t>
        <a:bodyPr/>
        <a:lstStyle/>
        <a:p>
          <a:endParaRPr lang="en-US"/>
        </a:p>
      </dgm:t>
    </dgm:pt>
    <dgm:pt modelId="{6DD0A3D8-733E-1442-BC95-FB7B5F00486F}" type="sibTrans" cxnId="{AB407EE7-3FAF-1345-8D54-1798C90DA17E}">
      <dgm:prSet/>
      <dgm:spPr/>
      <dgm:t>
        <a:bodyPr/>
        <a:lstStyle/>
        <a:p>
          <a:endParaRPr lang="en-US"/>
        </a:p>
      </dgm:t>
    </dgm:pt>
    <dgm:pt modelId="{694CBD96-E3DA-D34E-8FF2-EB1D634B269D}">
      <dgm:prSet phldrT="[Text]"/>
      <dgm:spPr/>
      <dgm:t>
        <a:bodyPr/>
        <a:lstStyle/>
        <a:p>
          <a:r>
            <a:rPr lang="en-US" dirty="0"/>
            <a:t>Verify that data is in COG format (e.g., </a:t>
          </a:r>
          <a:r>
            <a:rPr lang="en-US" dirty="0" err="1"/>
            <a:t>rio</a:t>
          </a:r>
          <a:r>
            <a:rPr lang="en-US" dirty="0"/>
            <a:t> </a:t>
          </a:r>
          <a:r>
            <a:rPr lang="en-US" dirty="0" err="1"/>
            <a:t>cogeo</a:t>
          </a:r>
          <a:r>
            <a:rPr lang="en-US" dirty="0"/>
            <a:t> validate &lt;filename&gt;</a:t>
          </a:r>
        </a:p>
      </dgm:t>
    </dgm:pt>
    <dgm:pt modelId="{65153D95-C5D3-C940-AC0B-31BE76C020C2}" type="parTrans" cxnId="{32F64075-D56E-B44A-AB03-4CA3FAAF104C}">
      <dgm:prSet/>
      <dgm:spPr/>
      <dgm:t>
        <a:bodyPr/>
        <a:lstStyle/>
        <a:p>
          <a:endParaRPr lang="en-US"/>
        </a:p>
      </dgm:t>
    </dgm:pt>
    <dgm:pt modelId="{7AC78300-5C7B-8446-AB6A-C1D395A80C2F}" type="sibTrans" cxnId="{32F64075-D56E-B44A-AB03-4CA3FAAF104C}">
      <dgm:prSet/>
      <dgm:spPr/>
      <dgm:t>
        <a:bodyPr/>
        <a:lstStyle/>
        <a:p>
          <a:endParaRPr lang="en-US"/>
        </a:p>
      </dgm:t>
    </dgm:pt>
    <dgm:pt modelId="{D3901DEF-9BA9-C642-8BE6-8EDC65887E03}">
      <dgm:prSet phldrT="[Text]"/>
      <dgm:spPr/>
      <dgm:t>
        <a:bodyPr/>
        <a:lstStyle/>
        <a:p>
          <a:r>
            <a:rPr lang="en-US" dirty="0"/>
            <a:t>Ingest</a:t>
          </a:r>
        </a:p>
      </dgm:t>
    </dgm:pt>
    <dgm:pt modelId="{AC5705C9-A386-784A-97F1-3F3D56B60856}" type="parTrans" cxnId="{CB5777DB-5F67-7C49-AB2F-D7AC93392C6C}">
      <dgm:prSet/>
      <dgm:spPr/>
      <dgm:t>
        <a:bodyPr/>
        <a:lstStyle/>
        <a:p>
          <a:endParaRPr lang="en-US"/>
        </a:p>
      </dgm:t>
    </dgm:pt>
    <dgm:pt modelId="{3618BF78-C713-2D42-B586-7FCE6B04BAE0}" type="sibTrans" cxnId="{CB5777DB-5F67-7C49-AB2F-D7AC93392C6C}">
      <dgm:prSet/>
      <dgm:spPr/>
      <dgm:t>
        <a:bodyPr/>
        <a:lstStyle/>
        <a:p>
          <a:endParaRPr lang="en-US"/>
        </a:p>
      </dgm:t>
    </dgm:pt>
    <dgm:pt modelId="{8DED0E41-78C8-9C46-8AE7-6DDC4AF7F8BB}">
      <dgm:prSet phldrT="[Text]"/>
      <dgm:spPr/>
      <dgm:t>
        <a:bodyPr/>
        <a:lstStyle/>
        <a:p>
          <a:r>
            <a:rPr lang="en-US" dirty="0"/>
            <a:t>Use </a:t>
          </a:r>
          <a:r>
            <a:rPr lang="en-US" dirty="0">
              <a:hlinkClick xmlns:r="http://schemas.openxmlformats.org/officeDocument/2006/relationships" r:id="rId1"/>
            </a:rPr>
            <a:t>Ingest API </a:t>
          </a:r>
          <a:r>
            <a:rPr lang="en-US" dirty="0"/>
            <a:t>or </a:t>
          </a:r>
          <a:r>
            <a:rPr lang="en-US" dirty="0">
              <a:hlinkClick xmlns:r="http://schemas.openxmlformats.org/officeDocument/2006/relationships" r:id="rId2"/>
            </a:rPr>
            <a:t>Airflow</a:t>
          </a:r>
          <a:r>
            <a:rPr lang="en-US" dirty="0"/>
            <a:t> (data should be in S3 bucket)</a:t>
          </a:r>
        </a:p>
      </dgm:t>
    </dgm:pt>
    <dgm:pt modelId="{9FF6E7B7-F0C1-A34C-B1B7-95678F7813CF}" type="parTrans" cxnId="{CEB0D5E5-B9C7-114F-812C-8FB0287EEBBE}">
      <dgm:prSet/>
      <dgm:spPr/>
      <dgm:t>
        <a:bodyPr/>
        <a:lstStyle/>
        <a:p>
          <a:endParaRPr lang="en-US"/>
        </a:p>
      </dgm:t>
    </dgm:pt>
    <dgm:pt modelId="{F2A82BAC-40D0-BA4A-8912-DCC42F5D2BF7}" type="sibTrans" cxnId="{CEB0D5E5-B9C7-114F-812C-8FB0287EEBBE}">
      <dgm:prSet/>
      <dgm:spPr/>
      <dgm:t>
        <a:bodyPr/>
        <a:lstStyle/>
        <a:p>
          <a:endParaRPr lang="en-US"/>
        </a:p>
      </dgm:t>
    </dgm:pt>
    <dgm:pt modelId="{CC0E38A9-8D50-9940-AF5B-BC684BF655C4}">
      <dgm:prSet phldrT="[Text]"/>
      <dgm:spPr/>
      <dgm:t>
        <a:bodyPr/>
        <a:lstStyle/>
        <a:p>
          <a:r>
            <a:rPr lang="en-US" dirty="0"/>
            <a:t>Verify</a:t>
          </a:r>
        </a:p>
      </dgm:t>
    </dgm:pt>
    <dgm:pt modelId="{56A32D1A-DF35-254C-B913-AFAAE98270D6}" type="parTrans" cxnId="{C9308BD2-1C22-FE4E-931C-C19788AA2DB2}">
      <dgm:prSet/>
      <dgm:spPr/>
      <dgm:t>
        <a:bodyPr/>
        <a:lstStyle/>
        <a:p>
          <a:endParaRPr lang="en-US"/>
        </a:p>
      </dgm:t>
    </dgm:pt>
    <dgm:pt modelId="{C491EE59-B1FA-4A4C-8D04-12E104C6C3EF}" type="sibTrans" cxnId="{C9308BD2-1C22-FE4E-931C-C19788AA2DB2}">
      <dgm:prSet/>
      <dgm:spPr/>
      <dgm:t>
        <a:bodyPr/>
        <a:lstStyle/>
        <a:p>
          <a:endParaRPr lang="en-US"/>
        </a:p>
      </dgm:t>
    </dgm:pt>
    <dgm:pt modelId="{1599D0C5-7CCE-C549-A73B-66106DC45B25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3"/>
            </a:rPr>
            <a:t>STAC Browser</a:t>
          </a:r>
          <a:endParaRPr lang="en-US" dirty="0"/>
        </a:p>
      </dgm:t>
    </dgm:pt>
    <dgm:pt modelId="{A53D8340-DC22-F947-83EF-0C183BED9039}" type="parTrans" cxnId="{051A61F7-CCAF-9C49-AFD7-315E98834E87}">
      <dgm:prSet/>
      <dgm:spPr/>
      <dgm:t>
        <a:bodyPr/>
        <a:lstStyle/>
        <a:p>
          <a:endParaRPr lang="en-US"/>
        </a:p>
      </dgm:t>
    </dgm:pt>
    <dgm:pt modelId="{597D90A9-F137-9340-BD6A-3DE560EBF0B0}" type="sibTrans" cxnId="{051A61F7-CCAF-9C49-AFD7-315E98834E87}">
      <dgm:prSet/>
      <dgm:spPr/>
      <dgm:t>
        <a:bodyPr/>
        <a:lstStyle/>
        <a:p>
          <a:endParaRPr lang="en-US"/>
        </a:p>
      </dgm:t>
    </dgm:pt>
    <dgm:pt modelId="{32B979C5-765F-454A-9C12-4FC3B0AE8D7C}">
      <dgm:prSet phldrT="[Text]"/>
      <dgm:spPr/>
      <dgm:t>
        <a:bodyPr/>
        <a:lstStyle/>
        <a:p>
          <a:r>
            <a:rPr lang="en-US" dirty="0"/>
            <a:t>Visualize</a:t>
          </a:r>
        </a:p>
      </dgm:t>
    </dgm:pt>
    <dgm:pt modelId="{74A7E8D1-7691-9A42-AB94-F6E581B504CA}" type="parTrans" cxnId="{188D4BB9-7BA1-2446-9CF0-C90302F1F90E}">
      <dgm:prSet/>
      <dgm:spPr/>
      <dgm:t>
        <a:bodyPr/>
        <a:lstStyle/>
        <a:p>
          <a:endParaRPr lang="en-US"/>
        </a:p>
      </dgm:t>
    </dgm:pt>
    <dgm:pt modelId="{877F5E1C-321D-8749-8EB9-E0975CE68C1F}" type="sibTrans" cxnId="{188D4BB9-7BA1-2446-9CF0-C90302F1F90E}">
      <dgm:prSet/>
      <dgm:spPr/>
      <dgm:t>
        <a:bodyPr/>
        <a:lstStyle/>
        <a:p>
          <a:endParaRPr lang="en-US"/>
        </a:p>
      </dgm:t>
    </dgm:pt>
    <dgm:pt modelId="{7CC08DCC-FACA-CC4E-85F3-9DBACE7E83B4}">
      <dgm:prSet phldrT="[Text]"/>
      <dgm:spPr/>
      <dgm:t>
        <a:bodyPr/>
        <a:lstStyle/>
        <a:p>
          <a:r>
            <a:rPr lang="en-US" dirty="0"/>
            <a:t>Some S3 buckets can only be found with specific Airflow/Ingest API instances !!! But we are using VEDA only so use the links above.</a:t>
          </a:r>
        </a:p>
      </dgm:t>
    </dgm:pt>
    <dgm:pt modelId="{92571815-6485-0F4A-9FED-4A677A94FB1E}" type="parTrans" cxnId="{3D179B20-095D-3D45-BAA3-2FC43BB6FBB8}">
      <dgm:prSet/>
      <dgm:spPr/>
      <dgm:t>
        <a:bodyPr/>
        <a:lstStyle/>
        <a:p>
          <a:endParaRPr lang="en-US"/>
        </a:p>
      </dgm:t>
    </dgm:pt>
    <dgm:pt modelId="{4ECBC8FF-BECC-D848-BC96-D6E9C9440D11}" type="sibTrans" cxnId="{3D179B20-095D-3D45-BAA3-2FC43BB6FBB8}">
      <dgm:prSet/>
      <dgm:spPr/>
      <dgm:t>
        <a:bodyPr/>
        <a:lstStyle/>
        <a:p>
          <a:endParaRPr lang="en-US"/>
        </a:p>
      </dgm:t>
    </dgm:pt>
    <dgm:pt modelId="{6F98E305-D293-BD4E-A58E-CEE3863A7384}">
      <dgm:prSet phldrT="[Text]"/>
      <dgm:spPr/>
      <dgm:t>
        <a:bodyPr/>
        <a:lstStyle/>
        <a:p>
          <a:r>
            <a:rPr lang="en-US" dirty="0">
              <a:hlinkClick xmlns:r="http://schemas.openxmlformats.org/officeDocument/2006/relationships" r:id="rId4"/>
            </a:rPr>
            <a:t>STAC collection</a:t>
          </a:r>
          <a:endParaRPr lang="en-US" dirty="0"/>
        </a:p>
      </dgm:t>
    </dgm:pt>
    <dgm:pt modelId="{716E0D72-E35E-DF47-BEF4-25727BCFC48D}" type="parTrans" cxnId="{AF141A15-ED94-354B-AF54-1DFAFBB17F0F}">
      <dgm:prSet/>
      <dgm:spPr/>
      <dgm:t>
        <a:bodyPr/>
        <a:lstStyle/>
        <a:p>
          <a:endParaRPr lang="en-US"/>
        </a:p>
      </dgm:t>
    </dgm:pt>
    <dgm:pt modelId="{AE792331-1675-1A4E-8D56-104407896F30}" type="sibTrans" cxnId="{AF141A15-ED94-354B-AF54-1DFAFBB17F0F}">
      <dgm:prSet/>
      <dgm:spPr/>
      <dgm:t>
        <a:bodyPr/>
        <a:lstStyle/>
        <a:p>
          <a:endParaRPr lang="en-US"/>
        </a:p>
      </dgm:t>
    </dgm:pt>
    <dgm:pt modelId="{40FCDF0A-D1CB-FA4B-8D17-8BB2CC2CDF2C}">
      <dgm:prSet phldrT="[Text]"/>
      <dgm:spPr/>
      <dgm:t>
        <a:bodyPr/>
        <a:lstStyle/>
        <a:p>
          <a:r>
            <a:rPr lang="en-US" dirty="0"/>
            <a:t>Needs a markdown file within repo (e.g., </a:t>
          </a:r>
          <a:r>
            <a:rPr lang="en-US" dirty="0" err="1">
              <a:hlinkClick xmlns:r="http://schemas.openxmlformats.org/officeDocument/2006/relationships" r:id="rId5"/>
            </a:rPr>
            <a:t>veda</a:t>
          </a:r>
          <a:r>
            <a:rPr lang="en-US" dirty="0">
              <a:hlinkClick xmlns:r="http://schemas.openxmlformats.org/officeDocument/2006/relationships" r:id="rId5"/>
            </a:rPr>
            <a:t>-disasters</a:t>
          </a:r>
          <a:r>
            <a:rPr lang="en-US" dirty="0"/>
            <a:t>) </a:t>
          </a:r>
        </a:p>
      </dgm:t>
    </dgm:pt>
    <dgm:pt modelId="{BA609C83-45F5-F741-BDB0-08DB9A287CAB}" type="parTrans" cxnId="{F3016042-EB24-2740-B51D-6935768E8AF9}">
      <dgm:prSet/>
      <dgm:spPr/>
      <dgm:t>
        <a:bodyPr/>
        <a:lstStyle/>
        <a:p>
          <a:endParaRPr lang="en-US"/>
        </a:p>
      </dgm:t>
    </dgm:pt>
    <dgm:pt modelId="{6EE17DB4-D13D-D64B-A783-DD3FE8F721CC}" type="sibTrans" cxnId="{F3016042-EB24-2740-B51D-6935768E8AF9}">
      <dgm:prSet/>
      <dgm:spPr/>
      <dgm:t>
        <a:bodyPr/>
        <a:lstStyle/>
        <a:p>
          <a:endParaRPr lang="en-US"/>
        </a:p>
      </dgm:t>
    </dgm:pt>
    <dgm:pt modelId="{95E3801F-DB9B-904B-B24D-77DEA8D1B203}" type="pres">
      <dgm:prSet presAssocID="{13DD2331-0A89-7F4E-9857-81F7C24D85A7}" presName="rootnode" presStyleCnt="0">
        <dgm:presLayoutVars>
          <dgm:chMax/>
          <dgm:chPref/>
          <dgm:dir/>
          <dgm:animLvl val="lvl"/>
        </dgm:presLayoutVars>
      </dgm:prSet>
      <dgm:spPr/>
    </dgm:pt>
    <dgm:pt modelId="{60D13C78-E078-8A4F-9008-B63DA5C90D8C}" type="pres">
      <dgm:prSet presAssocID="{C8E1DA0F-FF32-2044-BBE6-731EF5389796}" presName="composite" presStyleCnt="0"/>
      <dgm:spPr/>
    </dgm:pt>
    <dgm:pt modelId="{FF670193-E468-2544-916D-D102A65CD502}" type="pres">
      <dgm:prSet presAssocID="{C8E1DA0F-FF32-2044-BBE6-731EF5389796}" presName="bentUpArrow1" presStyleLbl="alignImgPlace1" presStyleIdx="0" presStyleCnt="3"/>
      <dgm:spPr/>
    </dgm:pt>
    <dgm:pt modelId="{EACB5F6A-86EF-E242-B690-598779B4BEED}" type="pres">
      <dgm:prSet presAssocID="{C8E1DA0F-FF32-2044-BBE6-731EF5389796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E40E6FF-D4C7-204C-BD62-2E74EC0E5871}" type="pres">
      <dgm:prSet presAssocID="{C8E1DA0F-FF32-2044-BBE6-731EF5389796}" presName="ChildText" presStyleLbl="revTx" presStyleIdx="0" presStyleCnt="4" custScaleX="209607" custLinFactNeighborX="71228" custLinFactNeighborY="948">
        <dgm:presLayoutVars>
          <dgm:chMax val="0"/>
          <dgm:chPref val="0"/>
          <dgm:bulletEnabled val="1"/>
        </dgm:presLayoutVars>
      </dgm:prSet>
      <dgm:spPr/>
    </dgm:pt>
    <dgm:pt modelId="{AEB1E8C2-5077-A44A-B37B-DDF922D665DD}" type="pres">
      <dgm:prSet presAssocID="{6DD0A3D8-733E-1442-BC95-FB7B5F00486F}" presName="sibTrans" presStyleCnt="0"/>
      <dgm:spPr/>
    </dgm:pt>
    <dgm:pt modelId="{3D0B019A-81C1-8641-8DB4-ADEE657434DD}" type="pres">
      <dgm:prSet presAssocID="{D3901DEF-9BA9-C642-8BE6-8EDC65887E03}" presName="composite" presStyleCnt="0"/>
      <dgm:spPr/>
    </dgm:pt>
    <dgm:pt modelId="{7BEE5D5C-0647-C546-8A10-A915AADA8235}" type="pres">
      <dgm:prSet presAssocID="{D3901DEF-9BA9-C642-8BE6-8EDC65887E03}" presName="bentUpArrow1" presStyleLbl="alignImgPlace1" presStyleIdx="1" presStyleCnt="3"/>
      <dgm:spPr/>
    </dgm:pt>
    <dgm:pt modelId="{8903CC41-53DD-FF47-A5BF-D62546A3FA04}" type="pres">
      <dgm:prSet presAssocID="{D3901DEF-9BA9-C642-8BE6-8EDC65887E03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7FBC3E6E-82AC-3B4E-82D3-9722C1F59A91}" type="pres">
      <dgm:prSet presAssocID="{D3901DEF-9BA9-C642-8BE6-8EDC65887E03}" presName="ChildText" presStyleLbl="revTx" presStyleIdx="1" presStyleCnt="4" custScaleX="234930" custLinFactNeighborX="92666" custLinFactNeighborY="2844">
        <dgm:presLayoutVars>
          <dgm:chMax val="0"/>
          <dgm:chPref val="0"/>
          <dgm:bulletEnabled val="1"/>
        </dgm:presLayoutVars>
      </dgm:prSet>
      <dgm:spPr/>
    </dgm:pt>
    <dgm:pt modelId="{6491C7AE-0537-AD48-B2B4-CE848D35242A}" type="pres">
      <dgm:prSet presAssocID="{3618BF78-C713-2D42-B586-7FCE6B04BAE0}" presName="sibTrans" presStyleCnt="0"/>
      <dgm:spPr/>
    </dgm:pt>
    <dgm:pt modelId="{49AA8627-302E-3943-A8F0-592AB13C5ECE}" type="pres">
      <dgm:prSet presAssocID="{CC0E38A9-8D50-9940-AF5B-BC684BF655C4}" presName="composite" presStyleCnt="0"/>
      <dgm:spPr/>
    </dgm:pt>
    <dgm:pt modelId="{9E7C8364-9AC1-5049-B1AF-AA2889C9556F}" type="pres">
      <dgm:prSet presAssocID="{CC0E38A9-8D50-9940-AF5B-BC684BF655C4}" presName="bentUpArrow1" presStyleLbl="alignImgPlace1" presStyleIdx="2" presStyleCnt="3"/>
      <dgm:spPr/>
    </dgm:pt>
    <dgm:pt modelId="{94FE7C41-0AA3-0240-9BF6-113FEE75FD3A}" type="pres">
      <dgm:prSet presAssocID="{CC0E38A9-8D50-9940-AF5B-BC684BF655C4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31B6C27A-3032-F340-AA91-466CFCE98205}" type="pres">
      <dgm:prSet presAssocID="{CC0E38A9-8D50-9940-AF5B-BC684BF655C4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145481FC-C017-4A45-998D-2ED88B5E85D5}" type="pres">
      <dgm:prSet presAssocID="{C491EE59-B1FA-4A4C-8D04-12E104C6C3EF}" presName="sibTrans" presStyleCnt="0"/>
      <dgm:spPr/>
    </dgm:pt>
    <dgm:pt modelId="{FC1A9EA1-B590-A64E-BB8F-F512C414FA04}" type="pres">
      <dgm:prSet presAssocID="{32B979C5-765F-454A-9C12-4FC3B0AE8D7C}" presName="composite" presStyleCnt="0"/>
      <dgm:spPr/>
    </dgm:pt>
    <dgm:pt modelId="{921622E3-D8CA-C24F-9979-3B17030F7BF5}" type="pres">
      <dgm:prSet presAssocID="{32B979C5-765F-454A-9C12-4FC3B0AE8D7C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  <dgm:pt modelId="{21CAFF50-0B16-4048-AD5A-B1A38A974BBF}" type="pres">
      <dgm:prSet presAssocID="{32B979C5-765F-454A-9C12-4FC3B0AE8D7C}" presName="FinalChildText" presStyleLbl="revTx" presStyleIdx="3" presStyleCnt="4" custScaleX="142849" custLinFactNeighborX="47920" custLinFactNeighborY="948">
        <dgm:presLayoutVars>
          <dgm:chMax val="0"/>
          <dgm:chPref val="0"/>
          <dgm:bulletEnabled val="1"/>
        </dgm:presLayoutVars>
      </dgm:prSet>
      <dgm:spPr/>
    </dgm:pt>
  </dgm:ptLst>
  <dgm:cxnLst>
    <dgm:cxn modelId="{23183A08-C186-4B4D-9519-9D30F004FBE7}" type="presOf" srcId="{40FCDF0A-D1CB-FA4B-8D17-8BB2CC2CDF2C}" destId="{21CAFF50-0B16-4048-AD5A-B1A38A974BBF}" srcOrd="0" destOrd="0" presId="urn:microsoft.com/office/officeart/2005/8/layout/StepDownProcess"/>
    <dgm:cxn modelId="{77B2590A-683B-1748-9FFA-C663E94C7B0E}" type="presOf" srcId="{D3901DEF-9BA9-C642-8BE6-8EDC65887E03}" destId="{8903CC41-53DD-FF47-A5BF-D62546A3FA04}" srcOrd="0" destOrd="0" presId="urn:microsoft.com/office/officeart/2005/8/layout/StepDownProcess"/>
    <dgm:cxn modelId="{AF141A15-ED94-354B-AF54-1DFAFBB17F0F}" srcId="{CC0E38A9-8D50-9940-AF5B-BC684BF655C4}" destId="{6F98E305-D293-BD4E-A58E-CEE3863A7384}" srcOrd="1" destOrd="0" parTransId="{716E0D72-E35E-DF47-BEF4-25727BCFC48D}" sibTransId="{AE792331-1675-1A4E-8D56-104407896F30}"/>
    <dgm:cxn modelId="{3D179B20-095D-3D45-BAA3-2FC43BB6FBB8}" srcId="{D3901DEF-9BA9-C642-8BE6-8EDC65887E03}" destId="{7CC08DCC-FACA-CC4E-85F3-9DBACE7E83B4}" srcOrd="1" destOrd="0" parTransId="{92571815-6485-0F4A-9FED-4A677A94FB1E}" sibTransId="{4ECBC8FF-BECC-D848-BC96-D6E9C9440D11}"/>
    <dgm:cxn modelId="{F3016042-EB24-2740-B51D-6935768E8AF9}" srcId="{32B979C5-765F-454A-9C12-4FC3B0AE8D7C}" destId="{40FCDF0A-D1CB-FA4B-8D17-8BB2CC2CDF2C}" srcOrd="0" destOrd="0" parTransId="{BA609C83-45F5-F741-BDB0-08DB9A287CAB}" sibTransId="{6EE17DB4-D13D-D64B-A783-DD3FE8F721CC}"/>
    <dgm:cxn modelId="{A9375645-7845-CF48-A393-6F29B65A3589}" type="presOf" srcId="{CC0E38A9-8D50-9940-AF5B-BC684BF655C4}" destId="{94FE7C41-0AA3-0240-9BF6-113FEE75FD3A}" srcOrd="0" destOrd="0" presId="urn:microsoft.com/office/officeart/2005/8/layout/StepDownProcess"/>
    <dgm:cxn modelId="{3B0BEA4E-2F47-424E-8CFE-FD23DBDE8B47}" type="presOf" srcId="{8DED0E41-78C8-9C46-8AE7-6DDC4AF7F8BB}" destId="{7FBC3E6E-82AC-3B4E-82D3-9722C1F59A91}" srcOrd="0" destOrd="0" presId="urn:microsoft.com/office/officeart/2005/8/layout/StepDownProcess"/>
    <dgm:cxn modelId="{91305567-F931-464A-8C22-531D1C220AEE}" type="presOf" srcId="{1599D0C5-7CCE-C549-A73B-66106DC45B25}" destId="{31B6C27A-3032-F340-AA91-466CFCE98205}" srcOrd="0" destOrd="0" presId="urn:microsoft.com/office/officeart/2005/8/layout/StepDownProcess"/>
    <dgm:cxn modelId="{32F64075-D56E-B44A-AB03-4CA3FAAF104C}" srcId="{C8E1DA0F-FF32-2044-BBE6-731EF5389796}" destId="{694CBD96-E3DA-D34E-8FF2-EB1D634B269D}" srcOrd="0" destOrd="0" parTransId="{65153D95-C5D3-C940-AC0B-31BE76C020C2}" sibTransId="{7AC78300-5C7B-8446-AB6A-C1D395A80C2F}"/>
    <dgm:cxn modelId="{F142C188-D32B-A84F-B948-752BF3DD227B}" type="presOf" srcId="{13DD2331-0A89-7F4E-9857-81F7C24D85A7}" destId="{95E3801F-DB9B-904B-B24D-77DEA8D1B203}" srcOrd="0" destOrd="0" presId="urn:microsoft.com/office/officeart/2005/8/layout/StepDownProcess"/>
    <dgm:cxn modelId="{467E77A5-34D7-4247-86AA-EA66F6AEFBF1}" type="presOf" srcId="{C8E1DA0F-FF32-2044-BBE6-731EF5389796}" destId="{EACB5F6A-86EF-E242-B690-598779B4BEED}" srcOrd="0" destOrd="0" presId="urn:microsoft.com/office/officeart/2005/8/layout/StepDownProcess"/>
    <dgm:cxn modelId="{188D4BB9-7BA1-2446-9CF0-C90302F1F90E}" srcId="{13DD2331-0A89-7F4E-9857-81F7C24D85A7}" destId="{32B979C5-765F-454A-9C12-4FC3B0AE8D7C}" srcOrd="3" destOrd="0" parTransId="{74A7E8D1-7691-9A42-AB94-F6E581B504CA}" sibTransId="{877F5E1C-321D-8749-8EB9-E0975CE68C1F}"/>
    <dgm:cxn modelId="{2AD16ABC-CC2C-E24E-8840-63A5F09FE63C}" type="presOf" srcId="{694CBD96-E3DA-D34E-8FF2-EB1D634B269D}" destId="{0E40E6FF-D4C7-204C-BD62-2E74EC0E5871}" srcOrd="0" destOrd="0" presId="urn:microsoft.com/office/officeart/2005/8/layout/StepDownProcess"/>
    <dgm:cxn modelId="{A5BB8ABC-C170-BE48-9A1D-2A57E2F771D4}" type="presOf" srcId="{6F98E305-D293-BD4E-A58E-CEE3863A7384}" destId="{31B6C27A-3032-F340-AA91-466CFCE98205}" srcOrd="0" destOrd="1" presId="urn:microsoft.com/office/officeart/2005/8/layout/StepDownProcess"/>
    <dgm:cxn modelId="{C8CA08BD-635D-954D-A7E7-E6F1E6DCC254}" type="presOf" srcId="{7CC08DCC-FACA-CC4E-85F3-9DBACE7E83B4}" destId="{7FBC3E6E-82AC-3B4E-82D3-9722C1F59A91}" srcOrd="0" destOrd="1" presId="urn:microsoft.com/office/officeart/2005/8/layout/StepDownProcess"/>
    <dgm:cxn modelId="{C9308BD2-1C22-FE4E-931C-C19788AA2DB2}" srcId="{13DD2331-0A89-7F4E-9857-81F7C24D85A7}" destId="{CC0E38A9-8D50-9940-AF5B-BC684BF655C4}" srcOrd="2" destOrd="0" parTransId="{56A32D1A-DF35-254C-B913-AFAAE98270D6}" sibTransId="{C491EE59-B1FA-4A4C-8D04-12E104C6C3EF}"/>
    <dgm:cxn modelId="{C7476CDB-1B99-6849-B30D-3295F57F3EED}" type="presOf" srcId="{32B979C5-765F-454A-9C12-4FC3B0AE8D7C}" destId="{921622E3-D8CA-C24F-9979-3B17030F7BF5}" srcOrd="0" destOrd="0" presId="urn:microsoft.com/office/officeart/2005/8/layout/StepDownProcess"/>
    <dgm:cxn modelId="{CB5777DB-5F67-7C49-AB2F-D7AC93392C6C}" srcId="{13DD2331-0A89-7F4E-9857-81F7C24D85A7}" destId="{D3901DEF-9BA9-C642-8BE6-8EDC65887E03}" srcOrd="1" destOrd="0" parTransId="{AC5705C9-A386-784A-97F1-3F3D56B60856}" sibTransId="{3618BF78-C713-2D42-B586-7FCE6B04BAE0}"/>
    <dgm:cxn modelId="{CEB0D5E5-B9C7-114F-812C-8FB0287EEBBE}" srcId="{D3901DEF-9BA9-C642-8BE6-8EDC65887E03}" destId="{8DED0E41-78C8-9C46-8AE7-6DDC4AF7F8BB}" srcOrd="0" destOrd="0" parTransId="{9FF6E7B7-F0C1-A34C-B1B7-95678F7813CF}" sibTransId="{F2A82BAC-40D0-BA4A-8912-DCC42F5D2BF7}"/>
    <dgm:cxn modelId="{AB407EE7-3FAF-1345-8D54-1798C90DA17E}" srcId="{13DD2331-0A89-7F4E-9857-81F7C24D85A7}" destId="{C8E1DA0F-FF32-2044-BBE6-731EF5389796}" srcOrd="0" destOrd="0" parTransId="{CA46DB48-1C56-B147-9393-55AF4611F7DB}" sibTransId="{6DD0A3D8-733E-1442-BC95-FB7B5F00486F}"/>
    <dgm:cxn modelId="{051A61F7-CCAF-9C49-AFD7-315E98834E87}" srcId="{CC0E38A9-8D50-9940-AF5B-BC684BF655C4}" destId="{1599D0C5-7CCE-C549-A73B-66106DC45B25}" srcOrd="0" destOrd="0" parTransId="{A53D8340-DC22-F947-83EF-0C183BED9039}" sibTransId="{597D90A9-F137-9340-BD6A-3DE560EBF0B0}"/>
    <dgm:cxn modelId="{8E3FDB92-3C4B-C44E-9D60-9483B1717E05}" type="presParOf" srcId="{95E3801F-DB9B-904B-B24D-77DEA8D1B203}" destId="{60D13C78-E078-8A4F-9008-B63DA5C90D8C}" srcOrd="0" destOrd="0" presId="urn:microsoft.com/office/officeart/2005/8/layout/StepDownProcess"/>
    <dgm:cxn modelId="{09290646-38B2-4744-AEB7-40516BC89B88}" type="presParOf" srcId="{60D13C78-E078-8A4F-9008-B63DA5C90D8C}" destId="{FF670193-E468-2544-916D-D102A65CD502}" srcOrd="0" destOrd="0" presId="urn:microsoft.com/office/officeart/2005/8/layout/StepDownProcess"/>
    <dgm:cxn modelId="{47B269BD-6C59-3746-BE43-C7A41CBB9E3B}" type="presParOf" srcId="{60D13C78-E078-8A4F-9008-B63DA5C90D8C}" destId="{EACB5F6A-86EF-E242-B690-598779B4BEED}" srcOrd="1" destOrd="0" presId="urn:microsoft.com/office/officeart/2005/8/layout/StepDownProcess"/>
    <dgm:cxn modelId="{E742A785-1E90-0548-B4C8-425CE345EDD2}" type="presParOf" srcId="{60D13C78-E078-8A4F-9008-B63DA5C90D8C}" destId="{0E40E6FF-D4C7-204C-BD62-2E74EC0E5871}" srcOrd="2" destOrd="0" presId="urn:microsoft.com/office/officeart/2005/8/layout/StepDownProcess"/>
    <dgm:cxn modelId="{B3D5ECFE-B91E-C44D-AF74-1FE3D1BE82CA}" type="presParOf" srcId="{95E3801F-DB9B-904B-B24D-77DEA8D1B203}" destId="{AEB1E8C2-5077-A44A-B37B-DDF922D665DD}" srcOrd="1" destOrd="0" presId="urn:microsoft.com/office/officeart/2005/8/layout/StepDownProcess"/>
    <dgm:cxn modelId="{EC4C3B5D-840F-9544-86A0-56FF35FB835A}" type="presParOf" srcId="{95E3801F-DB9B-904B-B24D-77DEA8D1B203}" destId="{3D0B019A-81C1-8641-8DB4-ADEE657434DD}" srcOrd="2" destOrd="0" presId="urn:microsoft.com/office/officeart/2005/8/layout/StepDownProcess"/>
    <dgm:cxn modelId="{33F05185-F8AF-194A-A03A-93EF26E1FA6C}" type="presParOf" srcId="{3D0B019A-81C1-8641-8DB4-ADEE657434DD}" destId="{7BEE5D5C-0647-C546-8A10-A915AADA8235}" srcOrd="0" destOrd="0" presId="urn:microsoft.com/office/officeart/2005/8/layout/StepDownProcess"/>
    <dgm:cxn modelId="{B915B9B3-C83B-7E41-AA1A-41E5E5C6F844}" type="presParOf" srcId="{3D0B019A-81C1-8641-8DB4-ADEE657434DD}" destId="{8903CC41-53DD-FF47-A5BF-D62546A3FA04}" srcOrd="1" destOrd="0" presId="urn:microsoft.com/office/officeart/2005/8/layout/StepDownProcess"/>
    <dgm:cxn modelId="{8F9363A0-21E2-524D-B68B-1BDB6F633A9D}" type="presParOf" srcId="{3D0B019A-81C1-8641-8DB4-ADEE657434DD}" destId="{7FBC3E6E-82AC-3B4E-82D3-9722C1F59A91}" srcOrd="2" destOrd="0" presId="urn:microsoft.com/office/officeart/2005/8/layout/StepDownProcess"/>
    <dgm:cxn modelId="{8B8E20AD-B9BD-4B47-8D94-3FB56824B0E7}" type="presParOf" srcId="{95E3801F-DB9B-904B-B24D-77DEA8D1B203}" destId="{6491C7AE-0537-AD48-B2B4-CE848D35242A}" srcOrd="3" destOrd="0" presId="urn:microsoft.com/office/officeart/2005/8/layout/StepDownProcess"/>
    <dgm:cxn modelId="{5438BF52-BB2A-ED47-BDB1-F4B29B8BDE82}" type="presParOf" srcId="{95E3801F-DB9B-904B-B24D-77DEA8D1B203}" destId="{49AA8627-302E-3943-A8F0-592AB13C5ECE}" srcOrd="4" destOrd="0" presId="urn:microsoft.com/office/officeart/2005/8/layout/StepDownProcess"/>
    <dgm:cxn modelId="{9CEA270D-C96A-514E-B4AE-DB2108662C30}" type="presParOf" srcId="{49AA8627-302E-3943-A8F0-592AB13C5ECE}" destId="{9E7C8364-9AC1-5049-B1AF-AA2889C9556F}" srcOrd="0" destOrd="0" presId="urn:microsoft.com/office/officeart/2005/8/layout/StepDownProcess"/>
    <dgm:cxn modelId="{636429F3-825B-0941-ADD2-995EA66999D7}" type="presParOf" srcId="{49AA8627-302E-3943-A8F0-592AB13C5ECE}" destId="{94FE7C41-0AA3-0240-9BF6-113FEE75FD3A}" srcOrd="1" destOrd="0" presId="urn:microsoft.com/office/officeart/2005/8/layout/StepDownProcess"/>
    <dgm:cxn modelId="{F95393F8-8B72-E343-9FD8-A207A1F4AA83}" type="presParOf" srcId="{49AA8627-302E-3943-A8F0-592AB13C5ECE}" destId="{31B6C27A-3032-F340-AA91-466CFCE98205}" srcOrd="2" destOrd="0" presId="urn:microsoft.com/office/officeart/2005/8/layout/StepDownProcess"/>
    <dgm:cxn modelId="{1F9CCD14-3337-604F-8A6C-F701007DDD37}" type="presParOf" srcId="{95E3801F-DB9B-904B-B24D-77DEA8D1B203}" destId="{145481FC-C017-4A45-998D-2ED88B5E85D5}" srcOrd="5" destOrd="0" presId="urn:microsoft.com/office/officeart/2005/8/layout/StepDownProcess"/>
    <dgm:cxn modelId="{3A6B1AAE-5EEC-E442-AE05-F6DDAA8462A5}" type="presParOf" srcId="{95E3801F-DB9B-904B-B24D-77DEA8D1B203}" destId="{FC1A9EA1-B590-A64E-BB8F-F512C414FA04}" srcOrd="6" destOrd="0" presId="urn:microsoft.com/office/officeart/2005/8/layout/StepDownProcess"/>
    <dgm:cxn modelId="{BE290F19-37D5-8847-8303-E114EB147D58}" type="presParOf" srcId="{FC1A9EA1-B590-A64E-BB8F-F512C414FA04}" destId="{921622E3-D8CA-C24F-9979-3B17030F7BF5}" srcOrd="0" destOrd="0" presId="urn:microsoft.com/office/officeart/2005/8/layout/StepDownProcess"/>
    <dgm:cxn modelId="{EBAFA6BE-19D0-9C49-B2D6-D52FA774DF25}" type="presParOf" srcId="{FC1A9EA1-B590-A64E-BB8F-F512C414FA04}" destId="{21CAFF50-0B16-4048-AD5A-B1A38A974BBF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4BABEB-39D0-5842-A995-002DD80AB169}" type="doc">
      <dgm:prSet loTypeId="urn:microsoft.com/office/officeart/2005/8/layout/process1" loCatId="" qsTypeId="urn:microsoft.com/office/officeart/2005/8/quickstyle/simple1" qsCatId="simple" csTypeId="urn:microsoft.com/office/officeart/2005/8/colors/colorful5" csCatId="colorful" phldr="1"/>
      <dgm:spPr/>
    </dgm:pt>
    <dgm:pt modelId="{F63BB3FE-229E-3A44-B5CF-2FED3A8C27FC}">
      <dgm:prSet phldrT="[Text]"/>
      <dgm:spPr/>
      <dgm:t>
        <a:bodyPr/>
        <a:lstStyle/>
        <a:p>
          <a:r>
            <a:rPr lang="en-US" dirty="0"/>
            <a:t>Step 1: </a:t>
          </a:r>
        </a:p>
        <a:p>
          <a:r>
            <a:rPr lang="en-US" dirty="0"/>
            <a:t>Create </a:t>
          </a:r>
          <a:r>
            <a:rPr lang="en-US" dirty="0" err="1"/>
            <a:t>json</a:t>
          </a:r>
          <a:r>
            <a:rPr lang="en-US" dirty="0"/>
            <a:t> config for ingestion</a:t>
          </a:r>
        </a:p>
      </dgm:t>
    </dgm:pt>
    <dgm:pt modelId="{3950D63A-60D9-7949-83D2-00F1B3BA007E}" type="parTrans" cxnId="{8E513D0D-6DD8-CC4D-BF18-4A1586DB5131}">
      <dgm:prSet/>
      <dgm:spPr/>
      <dgm:t>
        <a:bodyPr/>
        <a:lstStyle/>
        <a:p>
          <a:endParaRPr lang="en-US"/>
        </a:p>
      </dgm:t>
    </dgm:pt>
    <dgm:pt modelId="{3C2C153C-C89B-C04A-BD50-2F7D01976AC6}" type="sibTrans" cxnId="{8E513D0D-6DD8-CC4D-BF18-4A1586DB5131}">
      <dgm:prSet/>
      <dgm:spPr/>
      <dgm:t>
        <a:bodyPr/>
        <a:lstStyle/>
        <a:p>
          <a:endParaRPr lang="en-US"/>
        </a:p>
      </dgm:t>
    </dgm:pt>
    <dgm:pt modelId="{797719B3-D81C-4C45-AEB8-A3090DAA84FA}">
      <dgm:prSet phldrT="[Text]"/>
      <dgm:spPr/>
      <dgm:t>
        <a:bodyPr/>
        <a:lstStyle/>
        <a:p>
          <a:r>
            <a:rPr lang="en-US" dirty="0"/>
            <a:t>Step 2:</a:t>
          </a:r>
        </a:p>
        <a:p>
          <a:r>
            <a:rPr lang="en-US" dirty="0"/>
            <a:t>Ingest through Airflow or Ingest API</a:t>
          </a:r>
        </a:p>
      </dgm:t>
    </dgm:pt>
    <dgm:pt modelId="{13A75B88-07A5-A14C-B2F3-E4E24C08EAF3}" type="parTrans" cxnId="{969F881B-8B90-1E44-AB23-554CB7274406}">
      <dgm:prSet/>
      <dgm:spPr/>
      <dgm:t>
        <a:bodyPr/>
        <a:lstStyle/>
        <a:p>
          <a:endParaRPr lang="en-US"/>
        </a:p>
      </dgm:t>
    </dgm:pt>
    <dgm:pt modelId="{F73CDC64-B58C-F14D-873D-69C77BE22D09}" type="sibTrans" cxnId="{969F881B-8B90-1E44-AB23-554CB7274406}">
      <dgm:prSet/>
      <dgm:spPr/>
      <dgm:t>
        <a:bodyPr/>
        <a:lstStyle/>
        <a:p>
          <a:endParaRPr lang="en-US"/>
        </a:p>
      </dgm:t>
    </dgm:pt>
    <dgm:pt modelId="{DCCB40E2-BC9F-524F-93E2-C33114B4EE8D}">
      <dgm:prSet phldrT="[Text]"/>
      <dgm:spPr/>
      <dgm:t>
        <a:bodyPr/>
        <a:lstStyle/>
        <a:p>
          <a:r>
            <a:rPr lang="en-US" dirty="0"/>
            <a:t>Step 3:</a:t>
          </a:r>
        </a:p>
        <a:p>
          <a:r>
            <a:rPr lang="en-US" dirty="0"/>
            <a:t>Create a </a:t>
          </a:r>
          <a:r>
            <a:rPr lang="en-US" dirty="0">
              <a:hlinkClick xmlns:r="http://schemas.openxmlformats.org/officeDocument/2006/relationships" r:id="rId1"/>
            </a:rPr>
            <a:t>markdown</a:t>
          </a:r>
          <a:r>
            <a:rPr lang="en-US" dirty="0"/>
            <a:t> page and check if it will visualize</a:t>
          </a:r>
        </a:p>
      </dgm:t>
    </dgm:pt>
    <dgm:pt modelId="{369B379E-7FEC-1142-B880-A9CC509CE14A}" type="parTrans" cxnId="{A3C31FFC-110D-2940-A9A7-1F58EB3BFFAC}">
      <dgm:prSet/>
      <dgm:spPr/>
      <dgm:t>
        <a:bodyPr/>
        <a:lstStyle/>
        <a:p>
          <a:endParaRPr lang="en-US"/>
        </a:p>
      </dgm:t>
    </dgm:pt>
    <dgm:pt modelId="{B84CAEF1-D5AA-324C-93C4-4016BCC1EC8F}" type="sibTrans" cxnId="{A3C31FFC-110D-2940-A9A7-1F58EB3BFFAC}">
      <dgm:prSet/>
      <dgm:spPr/>
      <dgm:t>
        <a:bodyPr/>
        <a:lstStyle/>
        <a:p>
          <a:endParaRPr lang="en-US"/>
        </a:p>
      </dgm:t>
    </dgm:pt>
    <dgm:pt modelId="{9FF54158-708B-E544-AE48-0FDDFE1EC42E}" type="pres">
      <dgm:prSet presAssocID="{774BABEB-39D0-5842-A995-002DD80AB169}" presName="Name0" presStyleCnt="0">
        <dgm:presLayoutVars>
          <dgm:dir/>
          <dgm:resizeHandles val="exact"/>
        </dgm:presLayoutVars>
      </dgm:prSet>
      <dgm:spPr/>
    </dgm:pt>
    <dgm:pt modelId="{E725F556-18E6-254C-8562-AC7A36C72367}" type="pres">
      <dgm:prSet presAssocID="{F63BB3FE-229E-3A44-B5CF-2FED3A8C27FC}" presName="node" presStyleLbl="node1" presStyleIdx="0" presStyleCnt="3">
        <dgm:presLayoutVars>
          <dgm:bulletEnabled val="1"/>
        </dgm:presLayoutVars>
      </dgm:prSet>
      <dgm:spPr/>
    </dgm:pt>
    <dgm:pt modelId="{83C840A2-D579-CB45-8CA1-C8596B5BDAB8}" type="pres">
      <dgm:prSet presAssocID="{3C2C153C-C89B-C04A-BD50-2F7D01976AC6}" presName="sibTrans" presStyleLbl="sibTrans2D1" presStyleIdx="0" presStyleCnt="2"/>
      <dgm:spPr/>
    </dgm:pt>
    <dgm:pt modelId="{AACE5D66-C0F9-CD41-99FD-97D3B2BE90DB}" type="pres">
      <dgm:prSet presAssocID="{3C2C153C-C89B-C04A-BD50-2F7D01976AC6}" presName="connectorText" presStyleLbl="sibTrans2D1" presStyleIdx="0" presStyleCnt="2"/>
      <dgm:spPr/>
    </dgm:pt>
    <dgm:pt modelId="{BE2301A5-92D8-834F-883D-CC0B6EE02FDA}" type="pres">
      <dgm:prSet presAssocID="{797719B3-D81C-4C45-AEB8-A3090DAA84FA}" presName="node" presStyleLbl="node1" presStyleIdx="1" presStyleCnt="3">
        <dgm:presLayoutVars>
          <dgm:bulletEnabled val="1"/>
        </dgm:presLayoutVars>
      </dgm:prSet>
      <dgm:spPr/>
    </dgm:pt>
    <dgm:pt modelId="{4383071E-1B6A-6243-A583-06C783D6B0EB}" type="pres">
      <dgm:prSet presAssocID="{F73CDC64-B58C-F14D-873D-69C77BE22D09}" presName="sibTrans" presStyleLbl="sibTrans2D1" presStyleIdx="1" presStyleCnt="2"/>
      <dgm:spPr/>
    </dgm:pt>
    <dgm:pt modelId="{4789E3AF-8D8C-9A4A-B513-8EAB5A264256}" type="pres">
      <dgm:prSet presAssocID="{F73CDC64-B58C-F14D-873D-69C77BE22D09}" presName="connectorText" presStyleLbl="sibTrans2D1" presStyleIdx="1" presStyleCnt="2"/>
      <dgm:spPr/>
    </dgm:pt>
    <dgm:pt modelId="{732002F7-6276-3A4B-9D30-BC8A68FEBF92}" type="pres">
      <dgm:prSet presAssocID="{DCCB40E2-BC9F-524F-93E2-C33114B4EE8D}" presName="node" presStyleLbl="node1" presStyleIdx="2" presStyleCnt="3">
        <dgm:presLayoutVars>
          <dgm:bulletEnabled val="1"/>
        </dgm:presLayoutVars>
      </dgm:prSet>
      <dgm:spPr/>
    </dgm:pt>
  </dgm:ptLst>
  <dgm:cxnLst>
    <dgm:cxn modelId="{8E513D0D-6DD8-CC4D-BF18-4A1586DB5131}" srcId="{774BABEB-39D0-5842-A995-002DD80AB169}" destId="{F63BB3FE-229E-3A44-B5CF-2FED3A8C27FC}" srcOrd="0" destOrd="0" parTransId="{3950D63A-60D9-7949-83D2-00F1B3BA007E}" sibTransId="{3C2C153C-C89B-C04A-BD50-2F7D01976AC6}"/>
    <dgm:cxn modelId="{969F881B-8B90-1E44-AB23-554CB7274406}" srcId="{774BABEB-39D0-5842-A995-002DD80AB169}" destId="{797719B3-D81C-4C45-AEB8-A3090DAA84FA}" srcOrd="1" destOrd="0" parTransId="{13A75B88-07A5-A14C-B2F3-E4E24C08EAF3}" sibTransId="{F73CDC64-B58C-F14D-873D-69C77BE22D09}"/>
    <dgm:cxn modelId="{544BBF3A-6AFD-824C-8C05-850D7570C744}" type="presOf" srcId="{797719B3-D81C-4C45-AEB8-A3090DAA84FA}" destId="{BE2301A5-92D8-834F-883D-CC0B6EE02FDA}" srcOrd="0" destOrd="0" presId="urn:microsoft.com/office/officeart/2005/8/layout/process1"/>
    <dgm:cxn modelId="{ECB9EF3E-1DCF-C44B-B423-1024E945A556}" type="presOf" srcId="{F73CDC64-B58C-F14D-873D-69C77BE22D09}" destId="{4383071E-1B6A-6243-A583-06C783D6B0EB}" srcOrd="0" destOrd="0" presId="urn:microsoft.com/office/officeart/2005/8/layout/process1"/>
    <dgm:cxn modelId="{0CA24D69-DB78-BA4B-AEEC-DBB4C1C9A636}" type="presOf" srcId="{F63BB3FE-229E-3A44-B5CF-2FED3A8C27FC}" destId="{E725F556-18E6-254C-8562-AC7A36C72367}" srcOrd="0" destOrd="0" presId="urn:microsoft.com/office/officeart/2005/8/layout/process1"/>
    <dgm:cxn modelId="{2AFEF469-2F72-3D47-8B05-3B24955C518C}" type="presOf" srcId="{3C2C153C-C89B-C04A-BD50-2F7D01976AC6}" destId="{83C840A2-D579-CB45-8CA1-C8596B5BDAB8}" srcOrd="0" destOrd="0" presId="urn:microsoft.com/office/officeart/2005/8/layout/process1"/>
    <dgm:cxn modelId="{BF1C8771-E504-A34E-8725-617FE7880773}" type="presOf" srcId="{3C2C153C-C89B-C04A-BD50-2F7D01976AC6}" destId="{AACE5D66-C0F9-CD41-99FD-97D3B2BE90DB}" srcOrd="1" destOrd="0" presId="urn:microsoft.com/office/officeart/2005/8/layout/process1"/>
    <dgm:cxn modelId="{3827CF97-D6C2-C643-8B0F-F71042A19627}" type="presOf" srcId="{774BABEB-39D0-5842-A995-002DD80AB169}" destId="{9FF54158-708B-E544-AE48-0FDDFE1EC42E}" srcOrd="0" destOrd="0" presId="urn:microsoft.com/office/officeart/2005/8/layout/process1"/>
    <dgm:cxn modelId="{69A493A6-C2F3-004F-BFAA-AFBC4B253690}" type="presOf" srcId="{DCCB40E2-BC9F-524F-93E2-C33114B4EE8D}" destId="{732002F7-6276-3A4B-9D30-BC8A68FEBF92}" srcOrd="0" destOrd="0" presId="urn:microsoft.com/office/officeart/2005/8/layout/process1"/>
    <dgm:cxn modelId="{21D16DD4-50FA-9B4E-8AC2-BA7B1D6D13FF}" type="presOf" srcId="{F73CDC64-B58C-F14D-873D-69C77BE22D09}" destId="{4789E3AF-8D8C-9A4A-B513-8EAB5A264256}" srcOrd="1" destOrd="0" presId="urn:microsoft.com/office/officeart/2005/8/layout/process1"/>
    <dgm:cxn modelId="{A3C31FFC-110D-2940-A9A7-1F58EB3BFFAC}" srcId="{774BABEB-39D0-5842-A995-002DD80AB169}" destId="{DCCB40E2-BC9F-524F-93E2-C33114B4EE8D}" srcOrd="2" destOrd="0" parTransId="{369B379E-7FEC-1142-B880-A9CC509CE14A}" sibTransId="{B84CAEF1-D5AA-324C-93C4-4016BCC1EC8F}"/>
    <dgm:cxn modelId="{C3F36B93-3D3A-A94D-ACEE-8E9397079B33}" type="presParOf" srcId="{9FF54158-708B-E544-AE48-0FDDFE1EC42E}" destId="{E725F556-18E6-254C-8562-AC7A36C72367}" srcOrd="0" destOrd="0" presId="urn:microsoft.com/office/officeart/2005/8/layout/process1"/>
    <dgm:cxn modelId="{74D19D78-0824-784A-B8B6-379E3ECBBF24}" type="presParOf" srcId="{9FF54158-708B-E544-AE48-0FDDFE1EC42E}" destId="{83C840A2-D579-CB45-8CA1-C8596B5BDAB8}" srcOrd="1" destOrd="0" presId="urn:microsoft.com/office/officeart/2005/8/layout/process1"/>
    <dgm:cxn modelId="{3FD00BD2-917D-0C4C-A7FA-BB4965E83F6A}" type="presParOf" srcId="{83C840A2-D579-CB45-8CA1-C8596B5BDAB8}" destId="{AACE5D66-C0F9-CD41-99FD-97D3B2BE90DB}" srcOrd="0" destOrd="0" presId="urn:microsoft.com/office/officeart/2005/8/layout/process1"/>
    <dgm:cxn modelId="{284C7588-7D20-144A-8C43-FD0C008BCE50}" type="presParOf" srcId="{9FF54158-708B-E544-AE48-0FDDFE1EC42E}" destId="{BE2301A5-92D8-834F-883D-CC0B6EE02FDA}" srcOrd="2" destOrd="0" presId="urn:microsoft.com/office/officeart/2005/8/layout/process1"/>
    <dgm:cxn modelId="{D14BC9A4-CB8D-DE4E-A762-E6BD8FF993AF}" type="presParOf" srcId="{9FF54158-708B-E544-AE48-0FDDFE1EC42E}" destId="{4383071E-1B6A-6243-A583-06C783D6B0EB}" srcOrd="3" destOrd="0" presId="urn:microsoft.com/office/officeart/2005/8/layout/process1"/>
    <dgm:cxn modelId="{8719F695-6068-A34D-8BD0-D6A29E1733F4}" type="presParOf" srcId="{4383071E-1B6A-6243-A583-06C783D6B0EB}" destId="{4789E3AF-8D8C-9A4A-B513-8EAB5A264256}" srcOrd="0" destOrd="0" presId="urn:microsoft.com/office/officeart/2005/8/layout/process1"/>
    <dgm:cxn modelId="{86D1F1FE-E44B-744B-B7C2-68F78B10549E}" type="presParOf" srcId="{9FF54158-708B-E544-AE48-0FDDFE1EC42E}" destId="{732002F7-6276-3A4B-9D30-BC8A68FEBF92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4BABEB-39D0-5842-A995-002DD80AB169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F63BB3FE-229E-3A44-B5CF-2FED3A8C27FC}">
      <dgm:prSet phldrT="[Text]"/>
      <dgm:spPr/>
      <dgm:t>
        <a:bodyPr/>
        <a:lstStyle/>
        <a:p>
          <a:r>
            <a:rPr lang="en-US" dirty="0"/>
            <a:t>Step 1: </a:t>
          </a:r>
        </a:p>
        <a:p>
          <a:r>
            <a:rPr lang="en-US" dirty="0"/>
            <a:t>Create </a:t>
          </a:r>
          <a:r>
            <a:rPr lang="en-US" dirty="0" err="1"/>
            <a:t>json</a:t>
          </a:r>
          <a:r>
            <a:rPr lang="en-US" dirty="0"/>
            <a:t> config for ingestion</a:t>
          </a:r>
        </a:p>
      </dgm:t>
    </dgm:pt>
    <dgm:pt modelId="{3950D63A-60D9-7949-83D2-00F1B3BA007E}" type="parTrans" cxnId="{8E513D0D-6DD8-CC4D-BF18-4A1586DB5131}">
      <dgm:prSet/>
      <dgm:spPr/>
      <dgm:t>
        <a:bodyPr/>
        <a:lstStyle/>
        <a:p>
          <a:endParaRPr lang="en-US"/>
        </a:p>
      </dgm:t>
    </dgm:pt>
    <dgm:pt modelId="{3C2C153C-C89B-C04A-BD50-2F7D01976AC6}" type="sibTrans" cxnId="{8E513D0D-6DD8-CC4D-BF18-4A1586DB5131}">
      <dgm:prSet/>
      <dgm:spPr/>
      <dgm:t>
        <a:bodyPr/>
        <a:lstStyle/>
        <a:p>
          <a:endParaRPr lang="en-US"/>
        </a:p>
      </dgm:t>
    </dgm:pt>
    <dgm:pt modelId="{9FF54158-708B-E544-AE48-0FDDFE1EC42E}" type="pres">
      <dgm:prSet presAssocID="{774BABEB-39D0-5842-A995-002DD80AB169}" presName="Name0" presStyleCnt="0">
        <dgm:presLayoutVars>
          <dgm:dir/>
          <dgm:resizeHandles val="exact"/>
        </dgm:presLayoutVars>
      </dgm:prSet>
      <dgm:spPr/>
    </dgm:pt>
    <dgm:pt modelId="{E725F556-18E6-254C-8562-AC7A36C72367}" type="pres">
      <dgm:prSet presAssocID="{F63BB3FE-229E-3A44-B5CF-2FED3A8C27FC}" presName="node" presStyleLbl="node1" presStyleIdx="0" presStyleCnt="1" custLinFactNeighborX="9328" custLinFactNeighborY="-13215">
        <dgm:presLayoutVars>
          <dgm:bulletEnabled val="1"/>
        </dgm:presLayoutVars>
      </dgm:prSet>
      <dgm:spPr/>
    </dgm:pt>
  </dgm:ptLst>
  <dgm:cxnLst>
    <dgm:cxn modelId="{8E513D0D-6DD8-CC4D-BF18-4A1586DB5131}" srcId="{774BABEB-39D0-5842-A995-002DD80AB169}" destId="{F63BB3FE-229E-3A44-B5CF-2FED3A8C27FC}" srcOrd="0" destOrd="0" parTransId="{3950D63A-60D9-7949-83D2-00F1B3BA007E}" sibTransId="{3C2C153C-C89B-C04A-BD50-2F7D01976AC6}"/>
    <dgm:cxn modelId="{0CA24D69-DB78-BA4B-AEEC-DBB4C1C9A636}" type="presOf" srcId="{F63BB3FE-229E-3A44-B5CF-2FED3A8C27FC}" destId="{E725F556-18E6-254C-8562-AC7A36C72367}" srcOrd="0" destOrd="0" presId="urn:microsoft.com/office/officeart/2005/8/layout/process1"/>
    <dgm:cxn modelId="{3827CF97-D6C2-C643-8B0F-F71042A19627}" type="presOf" srcId="{774BABEB-39D0-5842-A995-002DD80AB169}" destId="{9FF54158-708B-E544-AE48-0FDDFE1EC42E}" srcOrd="0" destOrd="0" presId="urn:microsoft.com/office/officeart/2005/8/layout/process1"/>
    <dgm:cxn modelId="{C3F36B93-3D3A-A94D-ACEE-8E9397079B33}" type="presParOf" srcId="{9FF54158-708B-E544-AE48-0FDDFE1EC42E}" destId="{E725F556-18E6-254C-8562-AC7A36C7236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4BABEB-39D0-5842-A995-002DD80AB169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8AA22E-8A6A-A04F-BCC4-C749E5320C17}">
      <dgm:prSet phldrT="[Text]"/>
      <dgm:spPr/>
      <dgm:t>
        <a:bodyPr/>
        <a:lstStyle/>
        <a:p>
          <a:r>
            <a:rPr lang="en-US" dirty="0"/>
            <a:t>Step 2:</a:t>
          </a:r>
        </a:p>
        <a:p>
          <a:r>
            <a:rPr lang="en-US" dirty="0"/>
            <a:t>Create collection in Ingest API</a:t>
          </a:r>
        </a:p>
      </dgm:t>
    </dgm:pt>
    <dgm:pt modelId="{0B98B347-A914-6A46-B386-BE00E8AC1002}" type="parTrans" cxnId="{93824C9F-DC60-F64C-89B9-88D2B1D96AB3}">
      <dgm:prSet/>
      <dgm:spPr/>
      <dgm:t>
        <a:bodyPr/>
        <a:lstStyle/>
        <a:p>
          <a:endParaRPr lang="en-US"/>
        </a:p>
      </dgm:t>
    </dgm:pt>
    <dgm:pt modelId="{B1145016-053F-064B-A93E-B246FAC4A7E5}" type="sibTrans" cxnId="{93824C9F-DC60-F64C-89B9-88D2B1D96AB3}">
      <dgm:prSet/>
      <dgm:spPr/>
      <dgm:t>
        <a:bodyPr/>
        <a:lstStyle/>
        <a:p>
          <a:endParaRPr lang="en-US"/>
        </a:p>
      </dgm:t>
    </dgm:pt>
    <dgm:pt modelId="{9FF54158-708B-E544-AE48-0FDDFE1EC42E}" type="pres">
      <dgm:prSet presAssocID="{774BABEB-39D0-5842-A995-002DD80AB169}" presName="Name0" presStyleCnt="0">
        <dgm:presLayoutVars>
          <dgm:dir/>
          <dgm:resizeHandles val="exact"/>
        </dgm:presLayoutVars>
      </dgm:prSet>
      <dgm:spPr/>
    </dgm:pt>
    <dgm:pt modelId="{6375124F-CE50-A448-8839-9BA730014CE5}" type="pres">
      <dgm:prSet presAssocID="{128AA22E-8A6A-A04F-BCC4-C749E5320C17}" presName="node" presStyleLbl="node1" presStyleIdx="0" presStyleCnt="1">
        <dgm:presLayoutVars>
          <dgm:bulletEnabled val="1"/>
        </dgm:presLayoutVars>
      </dgm:prSet>
      <dgm:spPr/>
    </dgm:pt>
  </dgm:ptLst>
  <dgm:cxnLst>
    <dgm:cxn modelId="{A2A27C85-23A1-6B4B-B6AF-660F82BF2C3B}" type="presOf" srcId="{128AA22E-8A6A-A04F-BCC4-C749E5320C17}" destId="{6375124F-CE50-A448-8839-9BA730014CE5}" srcOrd="0" destOrd="0" presId="urn:microsoft.com/office/officeart/2005/8/layout/process1"/>
    <dgm:cxn modelId="{3827CF97-D6C2-C643-8B0F-F71042A19627}" type="presOf" srcId="{774BABEB-39D0-5842-A995-002DD80AB169}" destId="{9FF54158-708B-E544-AE48-0FDDFE1EC42E}" srcOrd="0" destOrd="0" presId="urn:microsoft.com/office/officeart/2005/8/layout/process1"/>
    <dgm:cxn modelId="{93824C9F-DC60-F64C-89B9-88D2B1D96AB3}" srcId="{774BABEB-39D0-5842-A995-002DD80AB169}" destId="{128AA22E-8A6A-A04F-BCC4-C749E5320C17}" srcOrd="0" destOrd="0" parTransId="{0B98B347-A914-6A46-B386-BE00E8AC1002}" sibTransId="{B1145016-053F-064B-A93E-B246FAC4A7E5}"/>
    <dgm:cxn modelId="{6AC1F0FF-7F80-8E4D-AF38-F7C8E2614B0D}" type="presParOf" srcId="{9FF54158-708B-E544-AE48-0FDDFE1EC42E}" destId="{6375124F-CE50-A448-8839-9BA730014CE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74BABEB-39D0-5842-A995-002DD80AB169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8AA22E-8A6A-A04F-BCC4-C749E5320C17}">
      <dgm:prSet phldrT="[Text]"/>
      <dgm:spPr/>
      <dgm:t>
        <a:bodyPr/>
        <a:lstStyle/>
        <a:p>
          <a:r>
            <a:rPr lang="en-US" dirty="0"/>
            <a:t>Step 3:</a:t>
          </a:r>
        </a:p>
        <a:p>
          <a:r>
            <a:rPr lang="en-US" dirty="0"/>
            <a:t>Ingest items in Airflow </a:t>
          </a:r>
        </a:p>
      </dgm:t>
    </dgm:pt>
    <dgm:pt modelId="{0B98B347-A914-6A46-B386-BE00E8AC1002}" type="parTrans" cxnId="{93824C9F-DC60-F64C-89B9-88D2B1D96AB3}">
      <dgm:prSet/>
      <dgm:spPr/>
      <dgm:t>
        <a:bodyPr/>
        <a:lstStyle/>
        <a:p>
          <a:endParaRPr lang="en-US"/>
        </a:p>
      </dgm:t>
    </dgm:pt>
    <dgm:pt modelId="{B1145016-053F-064B-A93E-B246FAC4A7E5}" type="sibTrans" cxnId="{93824C9F-DC60-F64C-89B9-88D2B1D96AB3}">
      <dgm:prSet/>
      <dgm:spPr/>
      <dgm:t>
        <a:bodyPr/>
        <a:lstStyle/>
        <a:p>
          <a:endParaRPr lang="en-US"/>
        </a:p>
      </dgm:t>
    </dgm:pt>
    <dgm:pt modelId="{9FF54158-708B-E544-AE48-0FDDFE1EC42E}" type="pres">
      <dgm:prSet presAssocID="{774BABEB-39D0-5842-A995-002DD80AB169}" presName="Name0" presStyleCnt="0">
        <dgm:presLayoutVars>
          <dgm:dir/>
          <dgm:resizeHandles val="exact"/>
        </dgm:presLayoutVars>
      </dgm:prSet>
      <dgm:spPr/>
    </dgm:pt>
    <dgm:pt modelId="{6375124F-CE50-A448-8839-9BA730014CE5}" type="pres">
      <dgm:prSet presAssocID="{128AA22E-8A6A-A04F-BCC4-C749E5320C17}" presName="node" presStyleLbl="node1" presStyleIdx="0" presStyleCnt="1" custLinFactNeighborX="49" custLinFactNeighborY="-12659">
        <dgm:presLayoutVars>
          <dgm:bulletEnabled val="1"/>
        </dgm:presLayoutVars>
      </dgm:prSet>
      <dgm:spPr/>
    </dgm:pt>
  </dgm:ptLst>
  <dgm:cxnLst>
    <dgm:cxn modelId="{A2A27C85-23A1-6B4B-B6AF-660F82BF2C3B}" type="presOf" srcId="{128AA22E-8A6A-A04F-BCC4-C749E5320C17}" destId="{6375124F-CE50-A448-8839-9BA730014CE5}" srcOrd="0" destOrd="0" presId="urn:microsoft.com/office/officeart/2005/8/layout/process1"/>
    <dgm:cxn modelId="{3827CF97-D6C2-C643-8B0F-F71042A19627}" type="presOf" srcId="{774BABEB-39D0-5842-A995-002DD80AB169}" destId="{9FF54158-708B-E544-AE48-0FDDFE1EC42E}" srcOrd="0" destOrd="0" presId="urn:microsoft.com/office/officeart/2005/8/layout/process1"/>
    <dgm:cxn modelId="{93824C9F-DC60-F64C-89B9-88D2B1D96AB3}" srcId="{774BABEB-39D0-5842-A995-002DD80AB169}" destId="{128AA22E-8A6A-A04F-BCC4-C749E5320C17}" srcOrd="0" destOrd="0" parTransId="{0B98B347-A914-6A46-B386-BE00E8AC1002}" sibTransId="{B1145016-053F-064B-A93E-B246FAC4A7E5}"/>
    <dgm:cxn modelId="{6AC1F0FF-7F80-8E4D-AF38-F7C8E2614B0D}" type="presParOf" srcId="{9FF54158-708B-E544-AE48-0FDDFE1EC42E}" destId="{6375124F-CE50-A448-8839-9BA730014CE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0CA46-E1BB-8E48-933A-9B2E42B1A77C}">
      <dsp:nvSpPr>
        <dsp:cNvPr id="0" name=""/>
        <dsp:cNvSpPr/>
      </dsp:nvSpPr>
      <dsp:spPr>
        <a:xfrm rot="5400000">
          <a:off x="1417038" y="1304056"/>
          <a:ext cx="988486" cy="231240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D47DA-CCC3-5344-856C-132AF1F8E0EB}">
      <dsp:nvSpPr>
        <dsp:cNvPr id="0" name=""/>
        <dsp:cNvSpPr/>
      </dsp:nvSpPr>
      <dsp:spPr>
        <a:xfrm>
          <a:off x="78777" y="303619"/>
          <a:ext cx="2996846" cy="153748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Upload data into S3 bucket</a:t>
          </a:r>
        </a:p>
      </dsp:txBody>
      <dsp:txXfrm>
        <a:off x="153844" y="378686"/>
        <a:ext cx="2846712" cy="1387351"/>
      </dsp:txXfrm>
    </dsp:sp>
    <dsp:sp modelId="{5B656D70-C14E-B14F-919F-1D52B6609D06}">
      <dsp:nvSpPr>
        <dsp:cNvPr id="0" name=""/>
        <dsp:cNvSpPr/>
      </dsp:nvSpPr>
      <dsp:spPr>
        <a:xfrm>
          <a:off x="3469979" y="22723"/>
          <a:ext cx="2179620" cy="1695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Usually start in a dev bucket</a:t>
          </a:r>
        </a:p>
      </dsp:txBody>
      <dsp:txXfrm>
        <a:off x="3469979" y="22723"/>
        <a:ext cx="2179620" cy="1695450"/>
      </dsp:txXfrm>
    </dsp:sp>
    <dsp:sp modelId="{4DBBBD0A-DE3E-144B-BE6B-D115B68AA2D8}">
      <dsp:nvSpPr>
        <dsp:cNvPr id="0" name=""/>
        <dsp:cNvSpPr/>
      </dsp:nvSpPr>
      <dsp:spPr>
        <a:xfrm rot="5400000">
          <a:off x="4573761" y="3165264"/>
          <a:ext cx="1246814" cy="198261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F66EE-5ED9-DB46-A028-86D776E5389D}">
      <dsp:nvSpPr>
        <dsp:cNvPr id="0" name=""/>
        <dsp:cNvSpPr/>
      </dsp:nvSpPr>
      <dsp:spPr>
        <a:xfrm>
          <a:off x="3317398" y="1805038"/>
          <a:ext cx="2996846" cy="160593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Create </a:t>
          </a:r>
          <a:r>
            <a:rPr lang="en-US" sz="2900" kern="1200" dirty="0" err="1"/>
            <a:t>json</a:t>
          </a:r>
          <a:r>
            <a:rPr lang="en-US" sz="2900" kern="1200" dirty="0"/>
            <a:t> config file to submit</a:t>
          </a:r>
        </a:p>
      </dsp:txBody>
      <dsp:txXfrm>
        <a:off x="3395807" y="1883447"/>
        <a:ext cx="2840028" cy="1449114"/>
      </dsp:txXfrm>
    </dsp:sp>
    <dsp:sp modelId="{3759DB62-9AA0-FA41-AFC0-CD072AD60C47}">
      <dsp:nvSpPr>
        <dsp:cNvPr id="0" name=""/>
        <dsp:cNvSpPr/>
      </dsp:nvSpPr>
      <dsp:spPr>
        <a:xfrm>
          <a:off x="6393539" y="1716260"/>
          <a:ext cx="2387011" cy="1695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Example config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hlinkClick xmlns:r="http://schemas.openxmlformats.org/officeDocument/2006/relationships" r:id="rId1"/>
            </a:rPr>
            <a:t>Collection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hlinkClick xmlns:r="http://schemas.openxmlformats.org/officeDocument/2006/relationships" r:id="rId2"/>
            </a:rPr>
            <a:t>Dataset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Multi-asset</a:t>
          </a:r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hlinkClick xmlns:r="http://schemas.openxmlformats.org/officeDocument/2006/relationships" r:id="rId3"/>
            </a:rPr>
            <a:t>Coll. </a:t>
          </a:r>
          <a:r>
            <a:rPr lang="en-US" sz="1900" kern="1200" dirty="0"/>
            <a:t>&amp; </a:t>
          </a:r>
          <a:r>
            <a:rPr lang="en-US" sz="1900" kern="1200" dirty="0">
              <a:hlinkClick xmlns:r="http://schemas.openxmlformats.org/officeDocument/2006/relationships" r:id="rId4"/>
            </a:rPr>
            <a:t>Discover</a:t>
          </a:r>
          <a:endParaRPr lang="en-US" sz="1900" kern="1200" dirty="0"/>
        </a:p>
      </dsp:txBody>
      <dsp:txXfrm>
        <a:off x="6393539" y="1716260"/>
        <a:ext cx="2387011" cy="1695450"/>
      </dsp:txXfrm>
    </dsp:sp>
    <dsp:sp modelId="{7D30A045-CB83-4F48-8C09-D24F8C18F999}">
      <dsp:nvSpPr>
        <dsp:cNvPr id="0" name=""/>
        <dsp:cNvSpPr/>
      </dsp:nvSpPr>
      <dsp:spPr>
        <a:xfrm>
          <a:off x="6210063" y="3581793"/>
          <a:ext cx="2996846" cy="172311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Run either Ingest API, Airflow, or Ingest UI</a:t>
          </a:r>
        </a:p>
      </dsp:txBody>
      <dsp:txXfrm>
        <a:off x="6294193" y="3665923"/>
        <a:ext cx="2828586" cy="1554850"/>
      </dsp:txXfrm>
    </dsp:sp>
    <dsp:sp modelId="{28F90079-6FEB-5040-8DF7-ACC7EFADFC37}">
      <dsp:nvSpPr>
        <dsp:cNvPr id="0" name=""/>
        <dsp:cNvSpPr/>
      </dsp:nvSpPr>
      <dsp:spPr>
        <a:xfrm>
          <a:off x="9301048" y="3723216"/>
          <a:ext cx="1402564" cy="1695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Depends on the final outcome (single asset or multi-item asset)</a:t>
          </a:r>
        </a:p>
      </dsp:txBody>
      <dsp:txXfrm>
        <a:off x="9301048" y="3723216"/>
        <a:ext cx="1402564" cy="1695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70193-E468-2544-916D-D102A65CD502}">
      <dsp:nvSpPr>
        <dsp:cNvPr id="0" name=""/>
        <dsp:cNvSpPr/>
      </dsp:nvSpPr>
      <dsp:spPr>
        <a:xfrm rot="5400000">
          <a:off x="1484262" y="1189191"/>
          <a:ext cx="1044368" cy="11889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B5F6A-86EF-E242-B690-598779B4BEED}">
      <dsp:nvSpPr>
        <dsp:cNvPr id="0" name=""/>
        <dsp:cNvSpPr/>
      </dsp:nvSpPr>
      <dsp:spPr>
        <a:xfrm>
          <a:off x="1207567" y="31487"/>
          <a:ext cx="1758102" cy="123061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Format</a:t>
          </a:r>
        </a:p>
      </dsp:txBody>
      <dsp:txXfrm>
        <a:off x="1267651" y="91571"/>
        <a:ext cx="1637934" cy="1110446"/>
      </dsp:txXfrm>
    </dsp:sp>
    <dsp:sp modelId="{0E40E6FF-D4C7-204C-BD62-2E74EC0E5871}">
      <dsp:nvSpPr>
        <dsp:cNvPr id="0" name=""/>
        <dsp:cNvSpPr/>
      </dsp:nvSpPr>
      <dsp:spPr>
        <a:xfrm>
          <a:off x="3175686" y="158284"/>
          <a:ext cx="2680194" cy="99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Verify that data is in COG format (e.g., </a:t>
          </a:r>
          <a:r>
            <a:rPr lang="en-US" sz="1100" kern="1200" dirty="0" err="1"/>
            <a:t>rio</a:t>
          </a:r>
          <a:r>
            <a:rPr lang="en-US" sz="1100" kern="1200" dirty="0"/>
            <a:t> </a:t>
          </a:r>
          <a:r>
            <a:rPr lang="en-US" sz="1100" kern="1200" dirty="0" err="1"/>
            <a:t>cogeo</a:t>
          </a:r>
          <a:r>
            <a:rPr lang="en-US" sz="1100" kern="1200" dirty="0"/>
            <a:t> validate &lt;filename&gt;</a:t>
          </a:r>
        </a:p>
      </dsp:txBody>
      <dsp:txXfrm>
        <a:off x="3175686" y="158284"/>
        <a:ext cx="2680194" cy="994636"/>
      </dsp:txXfrm>
    </dsp:sp>
    <dsp:sp modelId="{7BEE5D5C-0647-C546-8A10-A915AADA8235}">
      <dsp:nvSpPr>
        <dsp:cNvPr id="0" name=""/>
        <dsp:cNvSpPr/>
      </dsp:nvSpPr>
      <dsp:spPr>
        <a:xfrm rot="5400000">
          <a:off x="3278280" y="2571577"/>
          <a:ext cx="1044368" cy="11889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3CC41-53DD-FF47-A5BF-D62546A3FA04}">
      <dsp:nvSpPr>
        <dsp:cNvPr id="0" name=""/>
        <dsp:cNvSpPr/>
      </dsp:nvSpPr>
      <dsp:spPr>
        <a:xfrm>
          <a:off x="3001585" y="1413874"/>
          <a:ext cx="1758102" cy="123061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Ingest</a:t>
          </a:r>
        </a:p>
      </dsp:txBody>
      <dsp:txXfrm>
        <a:off x="3061669" y="1473958"/>
        <a:ext cx="1637934" cy="1110446"/>
      </dsp:txXfrm>
    </dsp:sp>
    <dsp:sp modelId="{7FBC3E6E-82AC-3B4E-82D3-9722C1F59A91}">
      <dsp:nvSpPr>
        <dsp:cNvPr id="0" name=""/>
        <dsp:cNvSpPr/>
      </dsp:nvSpPr>
      <dsp:spPr>
        <a:xfrm>
          <a:off x="5081927" y="1559528"/>
          <a:ext cx="3003993" cy="99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Use </a:t>
          </a:r>
          <a:r>
            <a:rPr lang="en-US" sz="1100" kern="1200" dirty="0">
              <a:hlinkClick xmlns:r="http://schemas.openxmlformats.org/officeDocument/2006/relationships" r:id="rId1"/>
            </a:rPr>
            <a:t>Ingest API </a:t>
          </a:r>
          <a:r>
            <a:rPr lang="en-US" sz="1100" kern="1200" dirty="0"/>
            <a:t>or </a:t>
          </a:r>
          <a:r>
            <a:rPr lang="en-US" sz="1100" kern="1200" dirty="0">
              <a:hlinkClick xmlns:r="http://schemas.openxmlformats.org/officeDocument/2006/relationships" r:id="rId2"/>
            </a:rPr>
            <a:t>Airflow</a:t>
          </a:r>
          <a:r>
            <a:rPr lang="en-US" sz="1100" kern="1200" dirty="0"/>
            <a:t> (data should be in S3 bucket)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Some S3 buckets can only be found with specific Airflow/Ingest API instances !!! But we are using VEDA only so use the links above.</a:t>
          </a:r>
        </a:p>
      </dsp:txBody>
      <dsp:txXfrm>
        <a:off x="5081927" y="1559528"/>
        <a:ext cx="3003993" cy="994636"/>
      </dsp:txXfrm>
    </dsp:sp>
    <dsp:sp modelId="{9E7C8364-9AC1-5049-B1AF-AA2889C9556F}">
      <dsp:nvSpPr>
        <dsp:cNvPr id="0" name=""/>
        <dsp:cNvSpPr/>
      </dsp:nvSpPr>
      <dsp:spPr>
        <a:xfrm rot="5400000">
          <a:off x="5072298" y="3953964"/>
          <a:ext cx="1044368" cy="11889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E7C41-0AA3-0240-9BF6-113FEE75FD3A}">
      <dsp:nvSpPr>
        <dsp:cNvPr id="0" name=""/>
        <dsp:cNvSpPr/>
      </dsp:nvSpPr>
      <dsp:spPr>
        <a:xfrm>
          <a:off x="4795603" y="2796260"/>
          <a:ext cx="1758102" cy="123061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Verify</a:t>
          </a:r>
        </a:p>
      </dsp:txBody>
      <dsp:txXfrm>
        <a:off x="4855687" y="2856344"/>
        <a:ext cx="1637934" cy="1110446"/>
      </dsp:txXfrm>
    </dsp:sp>
    <dsp:sp modelId="{31B6C27A-3032-F340-AA91-466CFCE98205}">
      <dsp:nvSpPr>
        <dsp:cNvPr id="0" name=""/>
        <dsp:cNvSpPr/>
      </dsp:nvSpPr>
      <dsp:spPr>
        <a:xfrm>
          <a:off x="6553706" y="2913627"/>
          <a:ext cx="1278676" cy="99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hlinkClick xmlns:r="http://schemas.openxmlformats.org/officeDocument/2006/relationships" r:id="rId3"/>
            </a:rPr>
            <a:t>STAC Browser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>
              <a:hlinkClick xmlns:r="http://schemas.openxmlformats.org/officeDocument/2006/relationships" r:id="rId4"/>
            </a:rPr>
            <a:t>STAC collection</a:t>
          </a:r>
          <a:endParaRPr lang="en-US" sz="1100" kern="1200" dirty="0"/>
        </a:p>
      </dsp:txBody>
      <dsp:txXfrm>
        <a:off x="6553706" y="2913627"/>
        <a:ext cx="1278676" cy="994636"/>
      </dsp:txXfrm>
    </dsp:sp>
    <dsp:sp modelId="{921622E3-D8CA-C24F-9979-3B17030F7BF5}">
      <dsp:nvSpPr>
        <dsp:cNvPr id="0" name=""/>
        <dsp:cNvSpPr/>
      </dsp:nvSpPr>
      <dsp:spPr>
        <a:xfrm>
          <a:off x="6589621" y="4178646"/>
          <a:ext cx="1758102" cy="123061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Visualize</a:t>
          </a:r>
        </a:p>
      </dsp:txBody>
      <dsp:txXfrm>
        <a:off x="6649705" y="4238730"/>
        <a:ext cx="1637934" cy="1110446"/>
      </dsp:txXfrm>
    </dsp:sp>
    <dsp:sp modelId="{21CAFF50-0B16-4048-AD5A-B1A38A974BBF}">
      <dsp:nvSpPr>
        <dsp:cNvPr id="0" name=""/>
        <dsp:cNvSpPr/>
      </dsp:nvSpPr>
      <dsp:spPr>
        <a:xfrm>
          <a:off x="8686515" y="4305442"/>
          <a:ext cx="1826575" cy="994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Needs a markdown file within repo (e.g., </a:t>
          </a:r>
          <a:r>
            <a:rPr lang="en-US" sz="1500" kern="1200" dirty="0" err="1">
              <a:hlinkClick xmlns:r="http://schemas.openxmlformats.org/officeDocument/2006/relationships" r:id="rId5"/>
            </a:rPr>
            <a:t>veda</a:t>
          </a:r>
          <a:r>
            <a:rPr lang="en-US" sz="1500" kern="1200" dirty="0">
              <a:hlinkClick xmlns:r="http://schemas.openxmlformats.org/officeDocument/2006/relationships" r:id="rId5"/>
            </a:rPr>
            <a:t>-disasters</a:t>
          </a:r>
          <a:r>
            <a:rPr lang="en-US" sz="1500" kern="1200" dirty="0"/>
            <a:t>) </a:t>
          </a:r>
        </a:p>
      </dsp:txBody>
      <dsp:txXfrm>
        <a:off x="8686515" y="4305442"/>
        <a:ext cx="1826575" cy="9946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25F556-18E6-254C-8562-AC7A36C72367}">
      <dsp:nvSpPr>
        <dsp:cNvPr id="0" name=""/>
        <dsp:cNvSpPr/>
      </dsp:nvSpPr>
      <dsp:spPr>
        <a:xfrm>
          <a:off x="8046" y="1540892"/>
          <a:ext cx="2405091" cy="144305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Step 1: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Create </a:t>
          </a:r>
          <a:r>
            <a:rPr lang="en-US" sz="1900" kern="1200" dirty="0" err="1"/>
            <a:t>json</a:t>
          </a:r>
          <a:r>
            <a:rPr lang="en-US" sz="1900" kern="1200" dirty="0"/>
            <a:t> config for ingestion</a:t>
          </a:r>
        </a:p>
      </dsp:txBody>
      <dsp:txXfrm>
        <a:off x="50312" y="1583158"/>
        <a:ext cx="2320559" cy="1358522"/>
      </dsp:txXfrm>
    </dsp:sp>
    <dsp:sp modelId="{83C840A2-D579-CB45-8CA1-C8596B5BDAB8}">
      <dsp:nvSpPr>
        <dsp:cNvPr id="0" name=""/>
        <dsp:cNvSpPr/>
      </dsp:nvSpPr>
      <dsp:spPr>
        <a:xfrm>
          <a:off x="2653647" y="1964188"/>
          <a:ext cx="509879" cy="5964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653647" y="2083480"/>
        <a:ext cx="356915" cy="357878"/>
      </dsp:txXfrm>
    </dsp:sp>
    <dsp:sp modelId="{BE2301A5-92D8-834F-883D-CC0B6EE02FDA}">
      <dsp:nvSpPr>
        <dsp:cNvPr id="0" name=""/>
        <dsp:cNvSpPr/>
      </dsp:nvSpPr>
      <dsp:spPr>
        <a:xfrm>
          <a:off x="3375174" y="1540892"/>
          <a:ext cx="2405091" cy="1443054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Step 2: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Ingest through Airflow or Ingest API</a:t>
          </a:r>
        </a:p>
      </dsp:txBody>
      <dsp:txXfrm>
        <a:off x="3417440" y="1583158"/>
        <a:ext cx="2320559" cy="1358522"/>
      </dsp:txXfrm>
    </dsp:sp>
    <dsp:sp modelId="{4383071E-1B6A-6243-A583-06C783D6B0EB}">
      <dsp:nvSpPr>
        <dsp:cNvPr id="0" name=""/>
        <dsp:cNvSpPr/>
      </dsp:nvSpPr>
      <dsp:spPr>
        <a:xfrm>
          <a:off x="6020774" y="1964188"/>
          <a:ext cx="509879" cy="5964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020774" y="2083480"/>
        <a:ext cx="356915" cy="357878"/>
      </dsp:txXfrm>
    </dsp:sp>
    <dsp:sp modelId="{732002F7-6276-3A4B-9D30-BC8A68FEBF92}">
      <dsp:nvSpPr>
        <dsp:cNvPr id="0" name=""/>
        <dsp:cNvSpPr/>
      </dsp:nvSpPr>
      <dsp:spPr>
        <a:xfrm>
          <a:off x="6742302" y="1540892"/>
          <a:ext cx="2405091" cy="1443054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Step 3: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Create a </a:t>
          </a:r>
          <a:r>
            <a:rPr lang="en-US" sz="1900" kern="1200" dirty="0">
              <a:hlinkClick xmlns:r="http://schemas.openxmlformats.org/officeDocument/2006/relationships" r:id="rId1"/>
            </a:rPr>
            <a:t>markdown</a:t>
          </a:r>
          <a:r>
            <a:rPr lang="en-US" sz="1900" kern="1200" dirty="0"/>
            <a:t> page and check if it will visualize</a:t>
          </a:r>
        </a:p>
      </dsp:txBody>
      <dsp:txXfrm>
        <a:off x="6784568" y="1583158"/>
        <a:ext cx="2320559" cy="13585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25F556-18E6-254C-8562-AC7A36C72367}">
      <dsp:nvSpPr>
        <dsp:cNvPr id="0" name=""/>
        <dsp:cNvSpPr/>
      </dsp:nvSpPr>
      <dsp:spPr>
        <a:xfrm>
          <a:off x="3614" y="0"/>
          <a:ext cx="3698089" cy="1438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Step 1: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Create </a:t>
          </a:r>
          <a:r>
            <a:rPr lang="en-US" sz="2400" kern="1200" dirty="0" err="1"/>
            <a:t>json</a:t>
          </a:r>
          <a:r>
            <a:rPr lang="en-US" sz="2400" kern="1200" dirty="0"/>
            <a:t> config for ingestion</a:t>
          </a:r>
        </a:p>
      </dsp:txBody>
      <dsp:txXfrm>
        <a:off x="45754" y="42140"/>
        <a:ext cx="3613809" cy="1354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5124F-CE50-A448-8839-9BA730014CE5}">
      <dsp:nvSpPr>
        <dsp:cNvPr id="0" name=""/>
        <dsp:cNvSpPr/>
      </dsp:nvSpPr>
      <dsp:spPr>
        <a:xfrm>
          <a:off x="1807" y="0"/>
          <a:ext cx="3698089" cy="1438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Step 2: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Create collection in Ingest API</a:t>
          </a:r>
        </a:p>
      </dsp:txBody>
      <dsp:txXfrm>
        <a:off x="43947" y="42140"/>
        <a:ext cx="3613809" cy="13544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5124F-CE50-A448-8839-9BA730014CE5}">
      <dsp:nvSpPr>
        <dsp:cNvPr id="0" name=""/>
        <dsp:cNvSpPr/>
      </dsp:nvSpPr>
      <dsp:spPr>
        <a:xfrm>
          <a:off x="3614" y="0"/>
          <a:ext cx="3698089" cy="14387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Step 3: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Ingest items in Airflow </a:t>
          </a:r>
        </a:p>
      </dsp:txBody>
      <dsp:txXfrm>
        <a:off x="45754" y="42140"/>
        <a:ext cx="3613809" cy="1354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68A80-4FBB-5141-A3B3-23F9B248151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C183C-E9E9-004F-BB29-5B221C8A8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8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08D7-2B46-42E1-8AC3-181271296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A09CF-5C03-A45D-3DAA-11522D9B8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3D1E-EC4D-1988-1BFE-2CEBE64C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DEEEC-2E29-C84C-A9D1-696C148D6430}" type="datetime1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BA2DF-9EF2-A9F5-77D5-2B9FDF7F2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4BF1E-783E-49CE-6151-D2CD2B38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4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AD3D-407B-8F84-7F5F-1C518578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C9861-807D-A815-A2D6-3C622BCD2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7E98C-D833-A49F-D971-20C1EABF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95C4-8919-C441-A59C-CAC645B24382}" type="datetime1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EB46C-882A-0909-034B-BF20C646E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42ABA-C2DE-6B23-D02E-922FC871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1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BAAB-E858-8C0C-90C0-325C1AD9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5F6CD-817E-3D41-703C-C359339D5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3C5C-2A5D-12A0-D1BE-4CEC1B26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5B42B-7BFD-CF4A-BADA-449BFB91CAA9}" type="datetime1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E59AE-140C-241F-6453-E0F11375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C611A-3661-C8E8-26B1-CAEFD4EB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97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068D-97A1-BCAA-A33A-3425E92B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9CA2B-4700-FBAA-885E-47A1FCE60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67564-2207-7F6E-135B-F13DB7DF0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8A37E-3873-996F-387F-69C062FB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F218-EB21-374E-BEA9-7AAA79505662}" type="datetime1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8F481-EA3C-D44A-4705-A6849588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C6F60-64CB-21A0-E91B-4E943A89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3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37DB-8ED2-B934-B906-F07A09CCA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2F6B7-11DB-6600-A1A9-53420CCCE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A9F12-C32D-7D80-EAA2-B07F23BD3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E07E5-4AC2-DA67-E7B0-0A8EDA78B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00A42-5A86-2D53-6CA4-AEDACCEF5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936F9-A8A4-CEEE-EE37-D94CFBC5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F16B-3CD0-6640-B3CE-BCB782B75192}" type="datetime1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37CE2-D893-51E8-D12C-5B944E76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88D20-249E-CF8F-6730-FCD9D7FE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7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C159-CF62-0A1A-90F8-F8249B36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60E5C-0F1F-F145-CF30-3E69E724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7585A-5404-D649-AE05-4BB52187E2BC}" type="datetime1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F9843-DF90-3EDA-70D7-074BCAAD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AE21D-2CE4-374B-97DF-8EF1F313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8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30EC7-5141-22C6-CAD9-82FC9D7B5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6F1F-2897-DC4C-B9AD-1C91A82EC31C}" type="datetime1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99F15-83F5-501C-10B6-CB7FBAE9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EE1DA-0FD5-ACEB-A10A-D148A37E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0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9168-ABD5-498F-FE50-76923C1B7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5D5F-C498-C06F-5D6D-DC14231EE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902FE-9A03-2AB4-4597-88105141F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586B8-B6FE-16AD-C768-AE2A3181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1993C-0E7F-6A41-8ACF-2167C1B7DF9D}" type="datetime1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DD1E7-E380-60BD-BF0A-DE4C21E1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86211-B079-FBEE-CC5E-C3D0170E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5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DF50-F17E-5872-E1ED-220F9647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C3A8B-4FFD-C2ED-6F71-3DC068C5F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92F38-C6BD-E4CF-9452-0CF51B4AA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235F1-9F41-9ECC-7410-881A1F10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E600D-2F7F-5F41-A2BB-1917B061E2BC}" type="datetime1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1F7AF-1F43-7426-D2D2-4CE2DD2A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315A4-0669-5F22-04FC-ACAC5EE2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4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E142-94C6-3032-3FA2-0DB16DA3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E7685-0102-8BF9-CCE6-0A154D75F5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F0FC5-4DBA-05F4-3965-BCA555BC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1B606-960E-AC44-91E2-CD5BC06C902C}" type="datetime1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E12FB-E7C6-91D2-AA51-43BDB3E2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AD074-B409-7AAE-84BC-163B8881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3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DBC67-0193-851D-1A95-33D42B8A8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27122-BFA8-FDA9-AB9D-3EA83596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EFC45-6602-258A-ACB8-519D00D7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80992-275A-9F4B-A8EF-14E52280F80C}" type="datetime1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F5177-8D04-19D2-5E7E-92E11215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18137-F078-ABDD-685B-914F3785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8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DCFFD-83B4-6436-D3B8-9528E4AD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753BD-BC13-7D8A-F717-523A37D3A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A329F-08A3-DFEB-6AAF-AF8A4D03E1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63242-E400-3A43-9818-454EC99B9427}" type="datetime1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A9FBB-59F3-66B9-BC9E-5D23FAE74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EE32C-9DFA-4D1E-B908-EEA4DF770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8F90B-7FA5-3745-B8A4-A3C1EAD30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5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earthdata.nasa.gov/dashboard/data-catalo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.arcgis.com/en/pro-app/latest/help/data/services/use-wms-services.htm" TargetMode="External"/><Relationship Id="rId2" Type="http://schemas.openxmlformats.org/officeDocument/2006/relationships/hyperlink" Target="https://www.earthdata.nasa.gov/engage/open-data-services-software/earthdata-developer-portal/gibs-ap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elopmentseed/titiler-multidim" TargetMode="External"/><Relationship Id="rId2" Type="http://schemas.openxmlformats.org/officeDocument/2006/relationships/hyperlink" Target="https://github.com/stac-utils/titiler-pgstac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arthdata.nasa.gov/about/esdis/eosdis/cmr" TargetMode="External"/><Relationship Id="rId4" Type="http://schemas.openxmlformats.org/officeDocument/2006/relationships/hyperlink" Target="https://github.com/developmentseed/titiler-cmr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veda.cloud/api/stac/collections" TargetMode="External"/><Relationship Id="rId2" Type="http://schemas.openxmlformats.org/officeDocument/2006/relationships/hyperlink" Target="https://earth.gov/ghgcenter/api/stac/collection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yle-lesinger/VEDA-Training---AWS-Data-Ingestion-Other/tree/main/Githu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openveda.cloud/?.language=en" TargetMode="External"/><Relationship Id="rId2" Type="http://schemas.openxmlformats.org/officeDocument/2006/relationships/hyperlink" Target="https://dev.openveda.cloud/api/ingest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gest.openveda.cloud/" TargetMode="External"/><Relationship Id="rId5" Type="http://schemas.openxmlformats.org/officeDocument/2006/relationships/hyperlink" Target="https://github.com/NASA-IMPACT/veda-data-airflow" TargetMode="External"/><Relationship Id="rId4" Type="http://schemas.openxmlformats.org/officeDocument/2006/relationships/hyperlink" Target="https://sm2a.dev.openveda.cloud/ho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veda.cloud/api/stac/collections/MODIS_Terra_L3_NDVI_16Day" TargetMode="External"/><Relationship Id="rId2" Type="http://schemas.openxmlformats.org/officeDocument/2006/relationships/hyperlink" Target="https://dev.openveda.cloud/api/ingest/doc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arth.gov/ghgcenter/api/stac/collections/ct-ch4-monthgrid-v2023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m2a.dev.openveda.cloud/hom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ngest.openveda.cloud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veda.cloud/user-guide/content-curation/dataset-ingestion/" TargetMode="External"/><Relationship Id="rId2" Type="http://schemas.openxmlformats.org/officeDocument/2006/relationships/hyperlink" Target="https://docs.openveda.cloud/user-guide/content-curation/dataset-ingestion/file-preparation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openveda.cloud/api/features/docs#/OGC%20Features%20API/collections_collections_get" TargetMode="External"/><Relationship Id="rId2" Type="http://schemas.openxmlformats.org/officeDocument/2006/relationships/hyperlink" Target="https://dev.openveda.cloud/api/raster/cog/view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uide.cloudnativegeo.org/cloud-optimized-geotiffs/writing-cogs-in-python.html" TargetMode="External"/><Relationship Id="rId4" Type="http://schemas.openxmlformats.org/officeDocument/2006/relationships/hyperlink" Target="https://dev.openveda.cloud/api/features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.openveda.cloud/api/features/docs#/OGC%20Features%20API/collections_collections_get" TargetMode="External"/><Relationship Id="rId3" Type="http://schemas.openxmlformats.org/officeDocument/2006/relationships/hyperlink" Target="https://github.com/NASA-IMPACT/veda-data/tree/main/ingestion-data" TargetMode="External"/><Relationship Id="rId7" Type="http://schemas.openxmlformats.org/officeDocument/2006/relationships/hyperlink" Target="https://dev.openveda.cloud/?.language=en" TargetMode="External"/><Relationship Id="rId2" Type="http://schemas.openxmlformats.org/officeDocument/2006/relationships/hyperlink" Target="https://github.com/US-GHG-Center/ghgc-data/tree/main/ingestion-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gest.openveda.cloud/" TargetMode="External"/><Relationship Id="rId11" Type="http://schemas.openxmlformats.org/officeDocument/2006/relationships/hyperlink" Target="https://guide.cloudnativegeo.org/cloud-optimized-geotiffs/writing-cogs-in-python.html" TargetMode="External"/><Relationship Id="rId5" Type="http://schemas.openxmlformats.org/officeDocument/2006/relationships/hyperlink" Target="https://dev.openveda.cloud/api/ingest/docs" TargetMode="External"/><Relationship Id="rId10" Type="http://schemas.openxmlformats.org/officeDocument/2006/relationships/hyperlink" Target="https://docs.openveda.cloud/" TargetMode="External"/><Relationship Id="rId4" Type="http://schemas.openxmlformats.org/officeDocument/2006/relationships/hyperlink" Target="https://sm2a.dev.openveda.cloud/home" TargetMode="External"/><Relationship Id="rId9" Type="http://schemas.openxmlformats.org/officeDocument/2006/relationships/hyperlink" Target="https://github.com/kyle-lesinger/VEDA-Training---AWS-Data-Ingestion-Other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SA-IMPACT/veda-config/tree/develop/datasets" TargetMode="External"/><Relationship Id="rId2" Type="http://schemas.openxmlformats.org/officeDocument/2006/relationships/hyperlink" Target="https://www.earthdata.nasa.gov/dashboard/exploration?search=&amp;datasets=%5B%7B%22id%22%3A%22lis-global-da-evap%22%2C%22settings%22%3A%7B%22isVisible%22%3Atrue%2C%22opacity%22%3A100%2C%22analysisMetrics%22%3A%5B%7B%22id%22%3A%22mean%22%2C%22label%22%3A%22Average%22%2C%22chartLabel%22%3A%22Average%22%2C%22themeColor%22%3A%22infographicB%22%7D%2C%7B%22id%22%3A%22std%22%2C%22label%22%3A%22St+Deviation%22%2C%22chartLabel%22%3A%22St+Deviation%22%2C%22themeColor%22%3A%22infographicD%22%7D%5D%2C%22colorMap%22%3A%22viridis%22%2C%22scale%22%3A%7B%22min%22%3A0%2C%22max%22%3A0.0001%7D%7D%7D%5D&amp;taxonomy=%7B%7D&amp;date=2021-12-01T06%3A00%3A00.000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yle-lesinger/docx2mdx_converter" TargetMode="External"/><Relationship Id="rId5" Type="http://schemas.openxmlformats.org/officeDocument/2006/relationships/hyperlink" Target="https://docs.google.com/document/d/1lQuEyUr-sV_eAe8IFkOvVriaTd-s4Wqo/edit?usp=sharing&amp;ouid=118263976044386137121&amp;rtpof=true&amp;sd=true" TargetMode="External"/><Relationship Id="rId4" Type="http://schemas.openxmlformats.org/officeDocument/2006/relationships/hyperlink" Target="https://raw.githubusercontent.com/NASA-IMPACT/veda-config/refs/heads/develop/datasets/FLDAS-soilmoisture-anomalies.data.mdx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hyperlink" Target="https://github.com/kyle-lesinger/VEDA-Training---AWS-Data-Ingestion-Other/tree/main/Data-ingest/config-example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ata.disasters.openveda.cloud/browseui/#nrt/sport-lis-cog/" TargetMode="Externa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hyperlink" Target="https://github.com/NASA-IMPACT/veda-disasters.git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veda.cloud/user-guide/content-curation/dataset-ingestion/stac-collection-conventions.html" TargetMode="External"/><Relationship Id="rId2" Type="http://schemas.openxmlformats.org/officeDocument/2006/relationships/hyperlink" Target="https://github.com/kyle-lesinger/VEDA-Training---AWS-Data-Ingestion-Other/blob/main/Data-ingest/config-troubleshooting/stac-temporal-intervals.md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hyperlink" Target="https://dev.openveda.cloud/?.language=en" TargetMode="External"/><Relationship Id="rId7" Type="http://schemas.openxmlformats.org/officeDocument/2006/relationships/diagramQuickStyle" Target="../diagrams/quickStyle5.xml"/><Relationship Id="rId2" Type="http://schemas.openxmlformats.org/officeDocument/2006/relationships/hyperlink" Target="https://dev.openveda.cloud/api/ingest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hyperlink" Target="https://dev.openveda.cloud/api/stac/collections" TargetMode="External"/><Relationship Id="rId9" Type="http://schemas.microsoft.com/office/2007/relationships/diagramDrawing" Target="../diagrams/drawing5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hyperlink" Target="https://dev.openveda.cloud/api/stac/collections" TargetMode="External"/><Relationship Id="rId7" Type="http://schemas.openxmlformats.org/officeDocument/2006/relationships/diagramColors" Target="../diagrams/colors6.xml"/><Relationship Id="rId2" Type="http://schemas.openxmlformats.org/officeDocument/2006/relationships/hyperlink" Target="https://sm2a.dev.openveda.cloud/home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SA-IMPACT/veda-disasters/blob/main/docs/DEVELOPMENT.md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arthdata.nasa.gov/dashboard/exploration?search=&amp;datasets=%5B%7B%22id%22%3A%22OCI_PACE_Chlorophyll_a%22%2C%22settings%22%3A%7B%22isVisible%22%3Atrue%2C%22opacity%22%3A100%2C%22analysisMetrics%22%3A%5B%7B%22id%22%3A%22mean%22%2C%22label%22%3A%22Average%22%2C%22chartLabel%22%3A%22Average%22%2C%22themeColor%22%3A%22infographicB%22%7D%2C%7B%22id%22%3A%22std%22%2C%22label%22%3A%22St+Deviation%22%2C%22chartLabel%22%3A%22St+Deviation%22%2C%22themeColor%22%3A%22infographicD%22%7D%5D%7D%7D%5D&amp;taxonomy=%7B%7D&amp;date=2025-06-23T05%3A00%3A00.000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A617-FB72-CE71-8677-303C4ED6FB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 of Data Indexing and Ingestion in VEDA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1EEF053-9994-A464-30F9-9FF03EB1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" b="5185"/>
          <a:stretch>
            <a:fillRect/>
          </a:stretch>
        </p:blipFill>
        <p:spPr>
          <a:xfrm>
            <a:off x="1022392" y="4679576"/>
            <a:ext cx="9855221" cy="13984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064E3-B662-2BA3-44A9-0624D9BA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7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0A92-0CE1-8497-22C7-65F23B48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60" y="184150"/>
            <a:ext cx="10515600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Purpose of Data Indexing/Ingestion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653D4-3E1A-06F8-6C81-B21268F60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938"/>
            <a:ext cx="10515600" cy="4351338"/>
          </a:xfrm>
        </p:spPr>
        <p:txBody>
          <a:bodyPr/>
          <a:lstStyle/>
          <a:p>
            <a:r>
              <a:rPr lang="en-US" dirty="0"/>
              <a:t>Add data reference links to the VEDA STAC catalogue</a:t>
            </a:r>
          </a:p>
          <a:p>
            <a:pPr lvl="1"/>
            <a:r>
              <a:rPr lang="en-US" dirty="0"/>
              <a:t>Reference links are generally the path within an AWS S3 bucket or our Postgres database</a:t>
            </a:r>
          </a:p>
          <a:p>
            <a:r>
              <a:rPr lang="en-US" dirty="0"/>
              <a:t>Allows for </a:t>
            </a:r>
            <a:r>
              <a:rPr lang="en-US" dirty="0" err="1">
                <a:solidFill>
                  <a:schemeClr val="accent2"/>
                </a:solidFill>
              </a:rPr>
              <a:t>veda-ui</a:t>
            </a:r>
            <a:r>
              <a:rPr lang="en-US" dirty="0"/>
              <a:t> to access this data and render in </a:t>
            </a:r>
            <a:r>
              <a:rPr lang="en-US" dirty="0">
                <a:hlinkClick r:id="rId2"/>
              </a:rPr>
              <a:t>Dashboard</a:t>
            </a:r>
            <a:endParaRPr lang="en-US" dirty="0"/>
          </a:p>
          <a:p>
            <a:r>
              <a:rPr lang="en-US" dirty="0"/>
              <a:t>Metadata is in a STAC format (improves accessibility and readability)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stac-logo">
            <a:extLst>
              <a:ext uri="{FF2B5EF4-FFF2-40B4-BE49-F238E27FC236}">
                <a16:creationId xmlns:a16="http://schemas.microsoft.com/office/drawing/2014/main" id="{411185E0-2E2E-1921-E21C-DE4BB7BA1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036" y="4500927"/>
            <a:ext cx="5978178" cy="199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DC076-79E8-9CF8-3C1F-BEADF8B5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0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B2971-3637-813A-D30F-5825F7C1B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79F9-B872-54FA-3D92-FF96A074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60" y="184150"/>
            <a:ext cx="10515600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Data indexing vs. ingestion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48C0C-653A-6616-D699-3134233C8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5733"/>
            <a:ext cx="3733800" cy="45213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Indexing </a:t>
            </a:r>
          </a:p>
          <a:p>
            <a:r>
              <a:rPr lang="en-US" dirty="0"/>
              <a:t>Original data </a:t>
            </a:r>
            <a:r>
              <a:rPr lang="en-US" u="sng" dirty="0"/>
              <a:t>is not </a:t>
            </a:r>
            <a:r>
              <a:rPr lang="en-US" dirty="0"/>
              <a:t>in our database or S3 controlled bucket</a:t>
            </a:r>
          </a:p>
          <a:p>
            <a:r>
              <a:rPr lang="en-US" dirty="0"/>
              <a:t>Example is layers from </a:t>
            </a:r>
            <a:r>
              <a:rPr lang="en-US" dirty="0">
                <a:hlinkClick r:id="rId2"/>
              </a:rPr>
              <a:t>GIBS</a:t>
            </a:r>
            <a:r>
              <a:rPr lang="en-US" dirty="0"/>
              <a:t> or ArcGIS </a:t>
            </a:r>
            <a:r>
              <a:rPr lang="en-US" dirty="0">
                <a:hlinkClick r:id="rId3"/>
              </a:rPr>
              <a:t>WMS layers</a:t>
            </a:r>
            <a:endParaRPr lang="en-US" dirty="0"/>
          </a:p>
          <a:p>
            <a:r>
              <a:rPr lang="en-US" dirty="0"/>
              <a:t>As of 9/11/25, we cannot perform statistics on this type of data because we are only serving tiles.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83D113-747B-D1CB-3340-E2D626150F38}"/>
              </a:ext>
            </a:extLst>
          </p:cNvPr>
          <p:cNvSpPr txBox="1">
            <a:spLocks/>
          </p:cNvSpPr>
          <p:nvPr/>
        </p:nvSpPr>
        <p:spPr>
          <a:xfrm>
            <a:off x="6692153" y="1725733"/>
            <a:ext cx="3733800" cy="4438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/>
              <a:t>Ingestion </a:t>
            </a:r>
          </a:p>
          <a:p>
            <a:r>
              <a:rPr lang="en-US" dirty="0"/>
              <a:t>Original data </a:t>
            </a:r>
            <a:r>
              <a:rPr lang="en-US" u="sng" dirty="0"/>
              <a:t>is</a:t>
            </a:r>
            <a:r>
              <a:rPr lang="en-US" dirty="0"/>
              <a:t> in our database or S3 controlled bucket</a:t>
            </a:r>
          </a:p>
          <a:p>
            <a:r>
              <a:rPr lang="en-US" dirty="0"/>
              <a:t>Our data ingestion pipeline will create an </a:t>
            </a:r>
            <a:r>
              <a:rPr lang="en-US" dirty="0" err="1"/>
              <a:t>href</a:t>
            </a:r>
            <a:r>
              <a:rPr lang="en-US" dirty="0"/>
              <a:t> to the specific files</a:t>
            </a:r>
          </a:p>
          <a:p>
            <a:r>
              <a:rPr lang="en-US" dirty="0"/>
              <a:t>We can perform statistics on this type of data</a:t>
            </a:r>
          </a:p>
          <a:p>
            <a:r>
              <a:rPr lang="en-US" dirty="0"/>
              <a:t>Data must be in cloud optimized </a:t>
            </a:r>
            <a:r>
              <a:rPr lang="en-US" dirty="0" err="1"/>
              <a:t>geotiff</a:t>
            </a:r>
            <a:r>
              <a:rPr lang="en-US" dirty="0"/>
              <a:t> format, netcdf4 (.</a:t>
            </a:r>
            <a:r>
              <a:rPr lang="en-US" dirty="0" err="1"/>
              <a:t>nc</a:t>
            </a:r>
            <a:r>
              <a:rPr lang="en-US" dirty="0"/>
              <a:t>/.nc4), .hdf5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B9F4A-44E0-FEC9-CC85-03BE4931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0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A2D1C-09B8-B0AD-9A57-1EA09A26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FA66-5A52-DA00-050F-BFBA3B00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60" y="184150"/>
            <a:ext cx="10515600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Tiling visualization software (Dev Seed)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71A07-E234-FDB2-4AA2-D258E9AD2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542" y="1745214"/>
            <a:ext cx="3733800" cy="4521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err="1">
                <a:hlinkClick r:id="rId2"/>
              </a:rPr>
              <a:t>Titiler-pgstac</a:t>
            </a:r>
            <a:endParaRPr lang="en-US" u="sng" dirty="0"/>
          </a:p>
          <a:p>
            <a:r>
              <a:rPr lang="en-US" dirty="0"/>
              <a:t>For cloud optimized </a:t>
            </a:r>
            <a:r>
              <a:rPr lang="en-US" dirty="0" err="1"/>
              <a:t>geotiff</a:t>
            </a:r>
            <a:r>
              <a:rPr lang="en-US" dirty="0"/>
              <a:t> (COG) or </a:t>
            </a:r>
            <a:r>
              <a:rPr lang="en-US" dirty="0" err="1"/>
              <a:t>geotiff</a:t>
            </a:r>
            <a:r>
              <a:rPr lang="en-US" dirty="0"/>
              <a:t> files.</a:t>
            </a:r>
          </a:p>
          <a:p>
            <a:r>
              <a:rPr lang="en-US" dirty="0"/>
              <a:t>We always prefer COGs, but technically it can work with just </a:t>
            </a:r>
            <a:r>
              <a:rPr lang="en-US" dirty="0" err="1"/>
              <a:t>geotiffs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0A0136-8A78-ABA1-86BE-B2AD9BC1A073}"/>
              </a:ext>
            </a:extLst>
          </p:cNvPr>
          <p:cNvSpPr txBox="1">
            <a:spLocks/>
          </p:cNvSpPr>
          <p:nvPr/>
        </p:nvSpPr>
        <p:spPr>
          <a:xfrm>
            <a:off x="4561696" y="1745214"/>
            <a:ext cx="3733800" cy="4438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 err="1">
                <a:hlinkClick r:id="rId3"/>
              </a:rPr>
              <a:t>Titiler-multidim</a:t>
            </a:r>
            <a:endParaRPr lang="en-US" b="1" u="sng" dirty="0"/>
          </a:p>
          <a:p>
            <a:r>
              <a:rPr lang="en-US" dirty="0"/>
              <a:t>For other files (netcdf4, hdf5)</a:t>
            </a:r>
          </a:p>
          <a:p>
            <a:r>
              <a:rPr lang="en-US" dirty="0"/>
              <a:t>Currently it’s difficult to properly ingest these items</a:t>
            </a:r>
          </a:p>
          <a:p>
            <a:r>
              <a:rPr lang="en-US" dirty="0"/>
              <a:t>Usually requires assistance from Data Services, but this will improve in the future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C6D294-6930-23A0-F5C1-A47995FEFEE8}"/>
              </a:ext>
            </a:extLst>
          </p:cNvPr>
          <p:cNvSpPr txBox="1">
            <a:spLocks/>
          </p:cNvSpPr>
          <p:nvPr/>
        </p:nvSpPr>
        <p:spPr>
          <a:xfrm>
            <a:off x="8586850" y="1745213"/>
            <a:ext cx="3733800" cy="4438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>
                <a:hlinkClick r:id="rId4"/>
              </a:rPr>
              <a:t>Titiler-CMR</a:t>
            </a:r>
            <a:endParaRPr lang="en-US" u="sng" dirty="0"/>
          </a:p>
          <a:p>
            <a:r>
              <a:rPr lang="en-US" dirty="0"/>
              <a:t>For indexing data that is within </a:t>
            </a:r>
            <a:r>
              <a:rPr lang="en-US" dirty="0">
                <a:hlinkClick r:id="rId5"/>
              </a:rPr>
              <a:t>NASA CMR</a:t>
            </a:r>
            <a:endParaRPr lang="en-US" dirty="0"/>
          </a:p>
          <a:p>
            <a:r>
              <a:rPr lang="en-US" dirty="0"/>
              <a:t>Currently it’s difficult to properly ingest these items</a:t>
            </a:r>
          </a:p>
          <a:p>
            <a:r>
              <a:rPr lang="en-US" dirty="0"/>
              <a:t>Usually requires assistance from Data Services, but this will improve in the future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7F3A4-129A-50A4-BAF1-C75D5F13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57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2C5D-9455-5FEB-E815-F2F0A2623AA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Development, Staging, Production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DC880-A127-9DEA-B550-CE57AF7D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ensure that our software builds and renders data successfully, there are (up to) 3 different pipelines that data can move through.</a:t>
            </a:r>
          </a:p>
          <a:p>
            <a:pPr lvl="1"/>
            <a:r>
              <a:rPr lang="en-US" dirty="0"/>
              <a:t>Not all instances will have full pipelines across development, staging, production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These also have their own AWS buckets/databases to keep things separate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8DF29E-8973-BC57-CF28-D3D743E9BD12}"/>
              </a:ext>
            </a:extLst>
          </p:cNvPr>
          <p:cNvSpPr txBox="1">
            <a:spLocks/>
          </p:cNvSpPr>
          <p:nvPr/>
        </p:nvSpPr>
        <p:spPr>
          <a:xfrm>
            <a:off x="452718" y="5187863"/>
            <a:ext cx="3005097" cy="13885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Development (dev)</a:t>
            </a:r>
          </a:p>
          <a:p>
            <a:r>
              <a:rPr lang="en-US" dirty="0"/>
              <a:t>For testing new features</a:t>
            </a:r>
          </a:p>
          <a:p>
            <a:r>
              <a:rPr lang="en-US" dirty="0"/>
              <a:t>Local development primarily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0652BE5-EB92-F06C-52E9-5CD6C58EA953}"/>
              </a:ext>
            </a:extLst>
          </p:cNvPr>
          <p:cNvSpPr txBox="1">
            <a:spLocks/>
          </p:cNvSpPr>
          <p:nvPr/>
        </p:nvSpPr>
        <p:spPr>
          <a:xfrm>
            <a:off x="4320189" y="5104345"/>
            <a:ext cx="3296449" cy="13885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1" dirty="0"/>
              <a:t>Staging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After dev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Approval needed to move into production</a:t>
            </a:r>
          </a:p>
          <a:p>
            <a:endParaRPr lang="en-US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885A859D-A8DA-7756-043F-78770083DBC5}"/>
              </a:ext>
            </a:extLst>
          </p:cNvPr>
          <p:cNvSpPr/>
          <p:nvPr/>
        </p:nvSpPr>
        <p:spPr>
          <a:xfrm>
            <a:off x="3627665" y="5674658"/>
            <a:ext cx="489858" cy="4379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4816DF40-012D-D32C-1F3C-8D17987E289E}"/>
              </a:ext>
            </a:extLst>
          </p:cNvPr>
          <p:cNvSpPr/>
          <p:nvPr/>
        </p:nvSpPr>
        <p:spPr>
          <a:xfrm>
            <a:off x="7802896" y="5663133"/>
            <a:ext cx="489858" cy="4379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6D90775-F14B-2FD5-B64B-7D3EDCC7944E}"/>
              </a:ext>
            </a:extLst>
          </p:cNvPr>
          <p:cNvSpPr txBox="1">
            <a:spLocks/>
          </p:cNvSpPr>
          <p:nvPr/>
        </p:nvSpPr>
        <p:spPr>
          <a:xfrm>
            <a:off x="8479012" y="5104346"/>
            <a:ext cx="3567312" cy="13885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1" dirty="0"/>
              <a:t>Production (prod)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After staging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Finalized STAC catalogue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EBE2B-7999-D31D-F207-DD9B1791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9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52AD-B433-C6E3-BC4D-4CFA6A8F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EC3A3-0545-FE37-4DB7-96DC1F4B405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STAC Catalogues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5DA6F-3233-48BF-A1A5-C7EE41C80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instance will have its own STAC catalogue. And each will have their own dev, staging, and prod catalogue</a:t>
            </a:r>
          </a:p>
          <a:p>
            <a:pPr lvl="1"/>
            <a:r>
              <a:rPr lang="en-US" dirty="0">
                <a:hlinkClick r:id="rId2"/>
              </a:rPr>
              <a:t>GHGC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VEDA</a:t>
            </a:r>
            <a:endParaRPr lang="en-US" dirty="0"/>
          </a:p>
          <a:p>
            <a:pPr lvl="1"/>
            <a:r>
              <a:rPr lang="en-US" dirty="0"/>
              <a:t>Disasters</a:t>
            </a:r>
          </a:p>
          <a:p>
            <a:pPr lvl="1"/>
            <a:r>
              <a:rPr lang="en-US" dirty="0"/>
              <a:t>Air Quality</a:t>
            </a:r>
          </a:p>
          <a:p>
            <a:pPr lvl="1"/>
            <a:r>
              <a:rPr lang="en-US" dirty="0"/>
              <a:t>Coastal Observatory (TBD)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We are moving to a multi-tenancy program where these will be further isolated to identify instance-specific costs associated with each. This will include Airflow and API’s (to be discussed later).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528CB-4B9A-DDA0-841E-7328335F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5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B1DA-3304-62A3-A83A-8046A93A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2816-5EBB-1528-C9A1-2813C5D8501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Git and </a:t>
            </a:r>
            <a:r>
              <a:rPr lang="en-US" dirty="0" err="1"/>
              <a:t>Github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292C5-3F31-09C1-CCA5-A65E0E08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Effective workflows in VEDA require a combination of git and </a:t>
            </a:r>
            <a:r>
              <a:rPr lang="en-US" dirty="0" err="1"/>
              <a:t>github</a:t>
            </a:r>
            <a:r>
              <a:rPr lang="en-US" dirty="0"/>
              <a:t> to ensure that information can be tracked and implemented across dev, staging, and production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Git branches are the primary means of integrating new changes to a repository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Comprehensive guide to git and </a:t>
            </a:r>
            <a:r>
              <a:rPr lang="en-US" dirty="0" err="1">
                <a:hlinkClick r:id="rId2"/>
              </a:rPr>
              <a:t>github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00F65-8DA0-F23F-AC00-9024B71E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8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5CEFD-FBB1-9F06-DABB-3498E05B2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E503-93BE-8726-12EB-E22966FF4D3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Ingesting Data (VEDA dev)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29A9C-AD9F-D0D1-6FA8-391FF39D3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93985"/>
          </a:xfrm>
        </p:spPr>
        <p:txBody>
          <a:bodyPr>
            <a:normAutofit/>
          </a:bodyPr>
          <a:lstStyle/>
          <a:p>
            <a:r>
              <a:rPr lang="en-US" dirty="0"/>
              <a:t>Assuming that you are ingesting data in the dev environment in VEDA, we first examine the different user interfaces, API’s, and software that has been developed.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4B553-E1A2-2088-FC59-BFCEBFB0A33B}"/>
              </a:ext>
            </a:extLst>
          </p:cNvPr>
          <p:cNvSpPr txBox="1"/>
          <p:nvPr/>
        </p:nvSpPr>
        <p:spPr>
          <a:xfrm>
            <a:off x="500102" y="3534654"/>
            <a:ext cx="3126762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Ingest API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documentation for what each API endpoint can 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used to ingest collections, but isn’t very useful for discovering items in 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verify the STAC collection created in the </a:t>
            </a:r>
            <a:r>
              <a:rPr lang="en-US" dirty="0">
                <a:hlinkClick r:id="rId3"/>
              </a:rPr>
              <a:t>STAC browser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8733A-8F38-DC26-4BA7-B57039E99036}"/>
              </a:ext>
            </a:extLst>
          </p:cNvPr>
          <p:cNvSpPr txBox="1"/>
          <p:nvPr/>
        </p:nvSpPr>
        <p:spPr>
          <a:xfrm>
            <a:off x="4259515" y="3534654"/>
            <a:ext cx="3274039" cy="31393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Airflow Ingest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Extensive set of functionality for creating collections AND discovering items from S3 through directed acyclic graphs (DAG)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Ingest feature/vector and gridded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 can be </a:t>
            </a:r>
            <a:r>
              <a:rPr lang="en-US" dirty="0">
                <a:hlinkClick r:id="rId5"/>
              </a:rPr>
              <a:t>found here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verify the STAC collection created in the </a:t>
            </a:r>
            <a:r>
              <a:rPr lang="en-US" dirty="0">
                <a:hlinkClick r:id="rId3"/>
              </a:rPr>
              <a:t>STAC browser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11636-B107-F093-1764-4BBEDD121264}"/>
              </a:ext>
            </a:extLst>
          </p:cNvPr>
          <p:cNvSpPr txBox="1"/>
          <p:nvPr/>
        </p:nvSpPr>
        <p:spPr>
          <a:xfrm>
            <a:off x="8166205" y="3534654"/>
            <a:ext cx="3525693" cy="31393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6"/>
              </a:rPr>
              <a:t>Ingest UI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an easier UI for ingesting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 only is available for STAGING (it will push data through a </a:t>
            </a:r>
            <a:r>
              <a:rPr lang="en-US" dirty="0" err="1"/>
              <a:t>github</a:t>
            </a:r>
            <a:r>
              <a:rPr lang="en-US" dirty="0"/>
              <a:t> action pipeline)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store historical ingest configurations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a built-in COG viewer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a built-in thumbnail uploader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B15AE-8AC1-2451-EB03-EA4665AC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65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7E45F-DCC1-93BD-5062-DE11003E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6DE6-7B39-67F7-331F-A154A0F4D64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When to use </a:t>
            </a:r>
            <a:r>
              <a:rPr lang="en-US" dirty="0">
                <a:hlinkClick r:id="rId2"/>
              </a:rPr>
              <a:t>Ingest API</a:t>
            </a:r>
            <a:r>
              <a:rPr lang="en-US" dirty="0"/>
              <a:t>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6C344-E198-318E-63B4-EB3649049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you want to </a:t>
            </a:r>
            <a:r>
              <a:rPr lang="en-US" b="1" dirty="0"/>
              <a:t>delete</a:t>
            </a:r>
            <a:r>
              <a:rPr lang="en-US" dirty="0"/>
              <a:t> a collection</a:t>
            </a:r>
          </a:p>
          <a:p>
            <a:endParaRPr lang="en-US" dirty="0"/>
          </a:p>
          <a:p>
            <a:r>
              <a:rPr lang="en-US" dirty="0"/>
              <a:t>If you want to </a:t>
            </a:r>
            <a:r>
              <a:rPr lang="en-US" b="1" dirty="0"/>
              <a:t>post</a:t>
            </a:r>
            <a:r>
              <a:rPr lang="en-US" dirty="0"/>
              <a:t> a collection for WMS, WMTS, or some other layer in which there is no data in S3. </a:t>
            </a:r>
          </a:p>
          <a:p>
            <a:pPr lvl="1"/>
            <a:r>
              <a:rPr lang="en-US" dirty="0"/>
              <a:t>Example is Worldview GIBS layer </a:t>
            </a:r>
            <a:r>
              <a:rPr lang="en-US" dirty="0">
                <a:hlinkClick r:id="rId3"/>
              </a:rPr>
              <a:t>MODIS TERRA NDVI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you want to </a:t>
            </a:r>
            <a:r>
              <a:rPr lang="en-US" b="1" dirty="0"/>
              <a:t>post</a:t>
            </a:r>
            <a:r>
              <a:rPr lang="en-US" dirty="0"/>
              <a:t> a collection with multiple </a:t>
            </a:r>
            <a:r>
              <a:rPr lang="en-US" dirty="0" err="1"/>
              <a:t>item_assets</a:t>
            </a:r>
            <a:r>
              <a:rPr lang="en-US" dirty="0"/>
              <a:t>. ** We then follow up this process with an Airflow </a:t>
            </a:r>
            <a:r>
              <a:rPr lang="en-US" dirty="0" err="1"/>
              <a:t>discover_items</a:t>
            </a:r>
            <a:r>
              <a:rPr lang="en-US" dirty="0"/>
              <a:t> DAG.</a:t>
            </a:r>
          </a:p>
          <a:p>
            <a:pPr lvl="1"/>
            <a:r>
              <a:rPr lang="en-US" dirty="0"/>
              <a:t>Example is </a:t>
            </a:r>
            <a:r>
              <a:rPr lang="en-US" dirty="0">
                <a:hlinkClick r:id="rId4"/>
              </a:rPr>
              <a:t>Monthly Methane from GHG Center </a:t>
            </a:r>
            <a:endParaRPr lang="en-US" dirty="0"/>
          </a:p>
          <a:p>
            <a:endParaRPr lang="en-US" dirty="0"/>
          </a:p>
          <a:p>
            <a:r>
              <a:rPr lang="en-US" dirty="0"/>
              <a:t>Ingest API can be useful for </a:t>
            </a:r>
            <a:r>
              <a:rPr lang="en-US" b="1" dirty="0"/>
              <a:t>debugging</a:t>
            </a:r>
            <a:r>
              <a:rPr lang="en-US" dirty="0"/>
              <a:t> if Airflow ingestion doesn’t work (Airflow is known to not provide sufficient error messages when a collection ingest failed.)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C7EEB-1163-1331-05C4-D831D9DF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66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AF12-CAEA-6378-5921-F7A197ED1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4BD-9C58-1D5C-571E-29C4273D462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When to use </a:t>
            </a:r>
            <a:r>
              <a:rPr lang="en-US" dirty="0">
                <a:hlinkClick r:id="rId2"/>
              </a:rPr>
              <a:t>Airflow</a:t>
            </a:r>
            <a:r>
              <a:rPr lang="en-US" dirty="0"/>
              <a:t>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E1C6C-B030-E6DB-1BAE-35B9121F9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you want a fully automated ingestion pipeline.</a:t>
            </a:r>
          </a:p>
          <a:p>
            <a:pPr lvl="1"/>
            <a:r>
              <a:rPr lang="en-US" dirty="0"/>
              <a:t>Simplest case is with a single variable (asset), you can use the </a:t>
            </a:r>
            <a:r>
              <a:rPr lang="en-US" b="1" dirty="0" err="1"/>
              <a:t>veda_dataset_pipeline</a:t>
            </a:r>
            <a:r>
              <a:rPr lang="en-US" b="1" dirty="0"/>
              <a:t> DAG</a:t>
            </a:r>
            <a:r>
              <a:rPr lang="en-US" dirty="0"/>
              <a:t> to create the collection and discover files from S3</a:t>
            </a:r>
          </a:p>
          <a:p>
            <a:pPr lvl="1"/>
            <a:endParaRPr lang="en-US" dirty="0"/>
          </a:p>
          <a:p>
            <a:r>
              <a:rPr lang="en-US" dirty="0"/>
              <a:t>If you want to discover items from S3 which need to be ingested (</a:t>
            </a:r>
            <a:r>
              <a:rPr lang="en-US" b="1" dirty="0" err="1"/>
              <a:t>veda_discover</a:t>
            </a:r>
            <a:r>
              <a:rPr lang="en-US" b="1" dirty="0"/>
              <a:t> DAG</a:t>
            </a:r>
            <a:r>
              <a:rPr lang="en-US" dirty="0"/>
              <a:t>). This pipeline can be used in conjunction with </a:t>
            </a:r>
            <a:r>
              <a:rPr lang="en-US" b="1" dirty="0" err="1"/>
              <a:t>veda_collection_pipeline</a:t>
            </a:r>
            <a:r>
              <a:rPr lang="en-US" dirty="0"/>
              <a:t> which created a multi-asset collection.</a:t>
            </a:r>
          </a:p>
          <a:p>
            <a:endParaRPr lang="en-US" dirty="0"/>
          </a:p>
          <a:p>
            <a:r>
              <a:rPr lang="en-US" dirty="0"/>
              <a:t>If you want to ingest Feature/Vector data (e.g., station data). </a:t>
            </a:r>
          </a:p>
          <a:p>
            <a:pPr lvl="1"/>
            <a:r>
              <a:rPr lang="en-US" b="1" dirty="0" err="1"/>
              <a:t>veda_ingest_vector</a:t>
            </a:r>
            <a:r>
              <a:rPr lang="en-US" dirty="0"/>
              <a:t> </a:t>
            </a:r>
            <a:r>
              <a:rPr lang="en-US" b="1" dirty="0"/>
              <a:t>DAG</a:t>
            </a:r>
          </a:p>
          <a:p>
            <a:pPr lvl="1"/>
            <a:endParaRPr lang="en-US" b="1" dirty="0"/>
          </a:p>
          <a:p>
            <a:r>
              <a:rPr lang="en-US" dirty="0"/>
              <a:t>If you want to create an ingestion pipeline that runs everyday, Airflow is great for that. You can create your own DAG!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2474F-7E15-C81C-C5B1-839986FE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8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794F-BE2D-C468-BC3E-657D9671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BB8F-6CE2-BECD-A2C5-6594DD90D9C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When to use </a:t>
            </a:r>
            <a:r>
              <a:rPr lang="en-US" dirty="0">
                <a:hlinkClick r:id="rId2"/>
              </a:rPr>
              <a:t>Ingest UI</a:t>
            </a:r>
            <a:r>
              <a:rPr lang="en-US" dirty="0"/>
              <a:t>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209C-3CF2-45A4-936D-69311287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If you are ingesting items within VEDA instance (not Disasters, not Air Quality, not GHG)</a:t>
            </a:r>
          </a:p>
          <a:p>
            <a:endParaRPr lang="en-US" dirty="0"/>
          </a:p>
          <a:p>
            <a:r>
              <a:rPr lang="en-US" dirty="0"/>
              <a:t>If you want to post items into staging… then trigger a </a:t>
            </a:r>
            <a:r>
              <a:rPr lang="en-US" dirty="0" err="1"/>
              <a:t>github</a:t>
            </a:r>
            <a:r>
              <a:rPr lang="en-US" dirty="0"/>
              <a:t> action to allow Data Services to check it and push the collection into production</a:t>
            </a:r>
          </a:p>
          <a:p>
            <a:endParaRPr lang="en-US" dirty="0"/>
          </a:p>
          <a:p>
            <a:r>
              <a:rPr lang="en-US" dirty="0"/>
              <a:t>If you have a single </a:t>
            </a:r>
            <a:r>
              <a:rPr lang="en-US" dirty="0" err="1"/>
              <a:t>item_asset</a:t>
            </a:r>
            <a:r>
              <a:rPr lang="en-US" dirty="0"/>
              <a:t> and you want to upload a thumbnail easily.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B5884-40BF-7D96-BE01-32D8E381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99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17085-F3EC-6E7A-8241-1667CD39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37CF-D2A7-65C7-2F48-419DE875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770"/>
            <a:ext cx="10515600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Workflow for ingesting files from S3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500B408-8C68-8959-A21E-6FA896F06B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0079547"/>
              </p:ext>
            </p:extLst>
          </p:nvPr>
        </p:nvGraphicFramePr>
        <p:xfrm>
          <a:off x="561417" y="1439333"/>
          <a:ext cx="1070361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07AD7-391B-EE80-6011-01F384A5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24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31BC-3F6F-4D2D-2227-A5389FCB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6899-456D-1758-B790-2F7CC62736A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Important things for data preparation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E3274-45C1-428E-5331-E71624CD8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46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Conversion to EPSG:4326 is not a requirement, but is preferred</a:t>
            </a:r>
          </a:p>
          <a:p>
            <a:pPr lvl="1"/>
            <a:r>
              <a:rPr lang="en-US" dirty="0"/>
              <a:t>Fun fact: Items with different CRS can be within the same collection… Just not assets with different CRS</a:t>
            </a:r>
          </a:p>
          <a:p>
            <a:r>
              <a:rPr lang="en-US" dirty="0"/>
              <a:t>Use </a:t>
            </a:r>
            <a:r>
              <a:rPr lang="en-US" dirty="0" err="1"/>
              <a:t>zstd</a:t>
            </a:r>
            <a:r>
              <a:rPr lang="en-US" dirty="0"/>
              <a:t> compression when converting </a:t>
            </a:r>
            <a:r>
              <a:rPr lang="en-US" dirty="0" err="1"/>
              <a:t>tifs</a:t>
            </a:r>
            <a:r>
              <a:rPr lang="en-US" dirty="0"/>
              <a:t> to COGs</a:t>
            </a:r>
          </a:p>
          <a:p>
            <a:pPr lvl="1"/>
            <a:r>
              <a:rPr lang="en-US" dirty="0"/>
              <a:t>Remember the predictor based on data type (if using python)</a:t>
            </a:r>
          </a:p>
          <a:p>
            <a:pPr lvl="1"/>
            <a:r>
              <a:rPr lang="en-US" dirty="0"/>
              <a:t>Remember the correct for </a:t>
            </a:r>
            <a:r>
              <a:rPr lang="en-US" dirty="0">
                <a:hlinkClick r:id="rId2"/>
              </a:rPr>
              <a:t>categorical or continuous data </a:t>
            </a:r>
            <a:r>
              <a:rPr lang="en-US" dirty="0"/>
              <a:t>(if using command line)</a:t>
            </a:r>
          </a:p>
          <a:p>
            <a:pPr lvl="2"/>
            <a:r>
              <a:rPr lang="en-US" dirty="0"/>
              <a:t>--overview-resampling (mode or average)</a:t>
            </a:r>
          </a:p>
          <a:p>
            <a:r>
              <a:rPr lang="en-US" dirty="0"/>
              <a:t>Remember to get the filename in a usable format. Dates cannot be the very first part of the filename string. See </a:t>
            </a:r>
            <a:r>
              <a:rPr lang="en-US" dirty="0">
                <a:hlinkClick r:id="rId2"/>
              </a:rPr>
              <a:t>examples here </a:t>
            </a:r>
            <a:r>
              <a:rPr lang="en-US" dirty="0"/>
              <a:t>for preferred date formats.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VEDA-docs</a:t>
            </a:r>
            <a:r>
              <a:rPr lang="en-US" dirty="0"/>
              <a:t> is a very useful resource!!!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4BB64-F845-8C79-0819-FBAF69FBD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4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8D6C-2CEA-A3B4-D892-84823A78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3FA1-54CE-FC54-E558-A579E8AD529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Additional important information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4BB4F-A640-51A8-FC4C-DEFBFF327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4602"/>
          </a:xfrm>
        </p:spPr>
        <p:txBody>
          <a:bodyPr>
            <a:normAutofit/>
          </a:bodyPr>
          <a:lstStyle/>
          <a:p>
            <a:r>
              <a:rPr lang="en-US" dirty="0"/>
              <a:t>Verification that file is a cloud optimized </a:t>
            </a:r>
            <a:r>
              <a:rPr lang="en-US" dirty="0" err="1"/>
              <a:t>geotiff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Command line [ </a:t>
            </a:r>
            <a:r>
              <a:rPr lang="en-US" dirty="0" err="1"/>
              <a:t>rio</a:t>
            </a:r>
            <a:r>
              <a:rPr lang="en-US" dirty="0"/>
              <a:t> </a:t>
            </a:r>
            <a:r>
              <a:rPr lang="en-US" dirty="0" err="1"/>
              <a:t>cogeo</a:t>
            </a:r>
            <a:r>
              <a:rPr lang="en-US" dirty="0"/>
              <a:t> validate $filename ]</a:t>
            </a:r>
          </a:p>
          <a:p>
            <a:pPr lvl="1"/>
            <a:r>
              <a:rPr lang="en-US" dirty="0">
                <a:hlinkClick r:id="rId2"/>
              </a:rPr>
              <a:t>COG viewer </a:t>
            </a:r>
            <a:endParaRPr lang="en-US" dirty="0"/>
          </a:p>
          <a:p>
            <a:pPr lvl="1"/>
            <a:r>
              <a:rPr lang="en-US" dirty="0"/>
              <a:t>Can also check file info using [ </a:t>
            </a:r>
            <a:r>
              <a:rPr lang="en-US" dirty="0" err="1"/>
              <a:t>gdalinfo</a:t>
            </a:r>
            <a:r>
              <a:rPr lang="en-US" dirty="0"/>
              <a:t> $filename ]</a:t>
            </a:r>
          </a:p>
          <a:p>
            <a:r>
              <a:rPr lang="en-US" dirty="0"/>
              <a:t>We do have a </a:t>
            </a:r>
            <a:r>
              <a:rPr lang="en-US" dirty="0">
                <a:hlinkClick r:id="rId3"/>
              </a:rPr>
              <a:t>Features API </a:t>
            </a:r>
            <a:r>
              <a:rPr lang="en-US" dirty="0"/>
              <a:t>for station data or polygons, but we will not be covering that today. </a:t>
            </a:r>
            <a:r>
              <a:rPr lang="en-US" dirty="0">
                <a:hlinkClick r:id="rId4"/>
              </a:rPr>
              <a:t>Additional link here.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MAAP-docs</a:t>
            </a:r>
            <a:r>
              <a:rPr lang="en-US" dirty="0"/>
              <a:t> are also a very useful resource!!!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69043-A206-5C7F-59AA-646DC9341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2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A9A0-402B-916A-86FF-8767AF4C1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C5CD3-65F0-6CCC-955F-5EC0F672F94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Troubleshooting	 in Airflow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DE73-F312-DD73-CF33-1361B6855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4602"/>
          </a:xfrm>
        </p:spPr>
        <p:txBody>
          <a:bodyPr>
            <a:normAutofit/>
          </a:bodyPr>
          <a:lstStyle/>
          <a:p>
            <a:r>
              <a:rPr lang="en-US" dirty="0"/>
              <a:t>Issue: Files not found in Airflow</a:t>
            </a:r>
          </a:p>
          <a:p>
            <a:pPr lvl="1"/>
            <a:r>
              <a:rPr lang="en-US" dirty="0"/>
              <a:t>Solution: Double check the regex pattern. Airflow has some checks within it and you can diagnose some errors.</a:t>
            </a:r>
          </a:p>
          <a:p>
            <a:r>
              <a:rPr lang="en-US" dirty="0"/>
              <a:t>Issue: Multi-assets not appear in front page of collection</a:t>
            </a:r>
          </a:p>
          <a:p>
            <a:pPr lvl="1"/>
            <a:r>
              <a:rPr lang="en-US" dirty="0"/>
              <a:t>Solution 1: Make sure that you run a collection pipeline first, then run the discover items pipeline</a:t>
            </a:r>
          </a:p>
          <a:p>
            <a:pPr lvl="1"/>
            <a:r>
              <a:rPr lang="en-US" dirty="0"/>
              <a:t>Solution 2: Run the Ingest API and create a collection with multi-assets, then run the discover items pipeline in Airflow.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07E60-BDCF-F23D-C9BE-ABF88A98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00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B561A-E20B-D65E-D97E-0BFECD00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833E-884C-DDE2-6A1F-08E5798A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Links, more links, and additional links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0461-603C-BE24-50C9-6A7F91B1C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933" y="1712503"/>
            <a:ext cx="1952134" cy="45846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/>
              <a:t>GHGC</a:t>
            </a:r>
            <a:endParaRPr lang="en-US" b="1" u="sng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Data configs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5C523C-2A91-76E6-49D7-DAB48EE891B1}"/>
              </a:ext>
            </a:extLst>
          </p:cNvPr>
          <p:cNvSpPr txBox="1">
            <a:spLocks/>
          </p:cNvSpPr>
          <p:nvPr/>
        </p:nvSpPr>
        <p:spPr>
          <a:xfrm>
            <a:off x="575820" y="1712503"/>
            <a:ext cx="2874390" cy="4584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 dirty="0"/>
              <a:t>VEDA</a:t>
            </a:r>
            <a:endParaRPr lang="en-US" b="1" u="sng" dirty="0">
              <a:hlinkClick r:id="rId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3"/>
              </a:rPr>
              <a:t>Data configs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4"/>
              </a:rPr>
              <a:t>Dev Airflow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5"/>
              </a:rPr>
              <a:t>Dev Ingest API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6"/>
              </a:rPr>
              <a:t>Staging Ingest UI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7"/>
              </a:rPr>
              <a:t>STAC Browser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8"/>
              </a:rPr>
              <a:t>Dev Features API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1365A-09EF-AA66-1117-293DEEAF300A}"/>
              </a:ext>
            </a:extLst>
          </p:cNvPr>
          <p:cNvSpPr txBox="1"/>
          <p:nvPr/>
        </p:nvSpPr>
        <p:spPr>
          <a:xfrm>
            <a:off x="5119933" y="4943516"/>
            <a:ext cx="361033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linkClick r:id="rId9"/>
              </a:rPr>
              <a:t>Kyle’s Personal Training repo</a:t>
            </a:r>
            <a:r>
              <a:rPr lang="en-US" sz="2800" b="1" dirty="0"/>
              <a:t> </a:t>
            </a:r>
            <a:r>
              <a:rPr lang="en-US" dirty="0"/>
              <a:t>– AWS, </a:t>
            </a:r>
            <a:r>
              <a:rPr lang="en-US" dirty="0" err="1"/>
              <a:t>Github</a:t>
            </a:r>
            <a:r>
              <a:rPr lang="en-US" dirty="0"/>
              <a:t>, </a:t>
            </a:r>
            <a:r>
              <a:rPr lang="en-US" dirty="0" err="1"/>
              <a:t>Jupyterhub</a:t>
            </a:r>
            <a:r>
              <a:rPr lang="en-US" dirty="0"/>
              <a:t>, regex,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B61D41F-7F85-4686-23D6-ED6B70BDB19B}"/>
              </a:ext>
            </a:extLst>
          </p:cNvPr>
          <p:cNvSpPr txBox="1">
            <a:spLocks/>
          </p:cNvSpPr>
          <p:nvPr/>
        </p:nvSpPr>
        <p:spPr>
          <a:xfrm>
            <a:off x="9050519" y="1712503"/>
            <a:ext cx="1952134" cy="4584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u="sng" dirty="0"/>
              <a:t>Docs</a:t>
            </a:r>
            <a:endParaRPr lang="en-US" b="1" u="sng" dirty="0">
              <a:hlinkClick r:id="rId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10"/>
              </a:rPr>
              <a:t>VEDA Docs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hlinkClick r:id="rId11"/>
              </a:rPr>
              <a:t>MAAP Docs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BCA80-B10A-BDB6-AAEA-54FA9989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2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BD249-D6F9-AF57-EE26-1EE1534C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E677-576A-0662-6EE7-1AE24B24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Data Pipeline – From Ingest to Visualization	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AAD3B70-1572-805F-9BAE-4B4578C87B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8046650"/>
              </p:ext>
            </p:extLst>
          </p:nvPr>
        </p:nvGraphicFramePr>
        <p:xfrm>
          <a:off x="358219" y="961535"/>
          <a:ext cx="11107918" cy="544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F1F3EF-89C0-12BF-0432-486EC3C9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25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1A8B-6847-A701-528B-C55D6B6B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4E92-1E80-299A-260C-03E4FDB33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Visualization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D40F5-7D50-7B3A-3C79-1578F33E8F65}"/>
              </a:ext>
            </a:extLst>
          </p:cNvPr>
          <p:cNvSpPr txBox="1"/>
          <p:nvPr/>
        </p:nvSpPr>
        <p:spPr>
          <a:xfrm>
            <a:off x="857839" y="1234911"/>
            <a:ext cx="104920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goal is to take the STAC collection that was created during ingestion, and render it within our </a:t>
            </a:r>
            <a:r>
              <a:rPr lang="en-US" sz="2000" dirty="0">
                <a:hlinkClick r:id="rId2"/>
              </a:rPr>
              <a:t>E&amp;A 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Requires a markdown file which our </a:t>
            </a:r>
            <a:r>
              <a:rPr lang="en-US" sz="2000" dirty="0" err="1"/>
              <a:t>veda-ui</a:t>
            </a:r>
            <a:r>
              <a:rPr lang="en-US" sz="2000" dirty="0"/>
              <a:t> can read and apply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 directory with </a:t>
            </a:r>
            <a:r>
              <a:rPr lang="en-US" sz="2000" dirty="0">
                <a:hlinkClick r:id="rId3"/>
              </a:rPr>
              <a:t>markdowns</a:t>
            </a:r>
            <a:r>
              <a:rPr lang="en-US" sz="20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Fldas-soil-moisture-anomalies</a:t>
            </a:r>
            <a:r>
              <a:rPr lang="en-US" sz="2000" dirty="0"/>
              <a:t> (example)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24ADC-731D-EBE5-80FF-DF3597A9DFA5}"/>
              </a:ext>
            </a:extLst>
          </p:cNvPr>
          <p:cNvSpPr txBox="1"/>
          <p:nvPr/>
        </p:nvSpPr>
        <p:spPr>
          <a:xfrm>
            <a:off x="857839" y="4475803"/>
            <a:ext cx="10276326" cy="19389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New Creation (author Kyle Lesinger):</a:t>
            </a:r>
          </a:p>
          <a:p>
            <a:r>
              <a:rPr lang="en-US" sz="2000" dirty="0"/>
              <a:t>1.) Fill out the information with </a:t>
            </a:r>
            <a:r>
              <a:rPr lang="en-US" sz="2000" dirty="0">
                <a:hlinkClick r:id="rId5"/>
              </a:rPr>
              <a:t>the Word document for each layer that we want</a:t>
            </a:r>
            <a:endParaRPr lang="en-US" sz="2000" dirty="0"/>
          </a:p>
          <a:p>
            <a:r>
              <a:rPr lang="en-US" sz="2000" dirty="0"/>
              <a:t>2.) Use the </a:t>
            </a:r>
            <a:r>
              <a:rPr lang="en-US" sz="2000" dirty="0">
                <a:hlinkClick r:id="rId6"/>
              </a:rPr>
              <a:t>docx2mdx converter </a:t>
            </a:r>
            <a:r>
              <a:rPr lang="en-US" sz="2000" dirty="0"/>
              <a:t>to write the markdown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Clone repo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Run script to create markdown from layers in Word (see README)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Suggestion: Use </a:t>
            </a:r>
            <a:r>
              <a:rPr lang="en-US" sz="2000" dirty="0" err="1"/>
              <a:t>VsCode</a:t>
            </a:r>
            <a:r>
              <a:rPr lang="en-US" sz="2000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A392B-D298-6C9B-9D6F-E0A99B20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99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644E-7A82-D8EA-CA41-76A5040C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8956-96C2-9815-5091-3B1110A2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Ingestion example – Disaster ESI data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B1F6B-AE8E-4F6E-0B7B-D57A111E8D2D}"/>
              </a:ext>
            </a:extLst>
          </p:cNvPr>
          <p:cNvSpPr txBox="1"/>
          <p:nvPr/>
        </p:nvSpPr>
        <p:spPr>
          <a:xfrm>
            <a:off x="725863" y="1239651"/>
            <a:ext cx="10492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Ingestion </a:t>
            </a:r>
            <a:r>
              <a:rPr lang="en-US" dirty="0">
                <a:hlinkClick r:id="rId2"/>
              </a:rPr>
              <a:t>example json config files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D3A6FD2-CE4D-936A-8BE6-ADB604FD1E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453513"/>
              </p:ext>
            </p:extLst>
          </p:nvPr>
        </p:nvGraphicFramePr>
        <p:xfrm>
          <a:off x="1246879" y="1687398"/>
          <a:ext cx="9155440" cy="4524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73DD6-61F8-5828-4AD5-192E5156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80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1DC34-DE7C-5A13-4ECF-C37A2F663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44FC-DB5F-160A-F024-86D30D78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Time for Ingestion Practice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81A92-70DD-91BA-1718-35D94C422D09}"/>
              </a:ext>
            </a:extLst>
          </p:cNvPr>
          <p:cNvSpPr txBox="1"/>
          <p:nvPr/>
        </p:nvSpPr>
        <p:spPr>
          <a:xfrm>
            <a:off x="245095" y="3309603"/>
            <a:ext cx="1049203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Goal is to ingest Disaster soil moisture data into the VEDA dev STAC catalogue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Step 1: Create a </a:t>
            </a:r>
            <a:r>
              <a:rPr lang="en-US" sz="2000" dirty="0" err="1"/>
              <a:t>json</a:t>
            </a:r>
            <a:r>
              <a:rPr lang="en-US" sz="2000" dirty="0"/>
              <a:t> config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Clone repository for </a:t>
            </a:r>
            <a:r>
              <a:rPr lang="en-US" sz="2000" dirty="0">
                <a:hlinkClick r:id="rId2"/>
              </a:rPr>
              <a:t>veda-disasters</a:t>
            </a:r>
            <a:endParaRPr lang="en-US" sz="2000" dirty="0"/>
          </a:p>
          <a:p>
            <a:pPr marL="285750" indent="-285750">
              <a:buFontTx/>
              <a:buChar char="-"/>
            </a:pPr>
            <a:r>
              <a:rPr lang="en-US" sz="2000" dirty="0"/>
              <a:t>command:    cd </a:t>
            </a:r>
            <a:r>
              <a:rPr lang="en-US" sz="2000" dirty="0" err="1"/>
              <a:t>veda</a:t>
            </a:r>
            <a:r>
              <a:rPr lang="en-US" sz="2000" dirty="0"/>
              <a:t>-disasters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Create a new branch off of </a:t>
            </a:r>
            <a:r>
              <a:rPr lang="en-US" sz="2000" b="1" dirty="0"/>
              <a:t>ingestion-config</a:t>
            </a:r>
            <a:r>
              <a:rPr lang="en-US" sz="2000" dirty="0"/>
              <a:t> branch ( git checkout –b &lt;your-name&gt; origin/ingestion-config 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View template file in ingestion-data/dev/dataset-config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Open your selected variable file</a:t>
            </a:r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9F34EED-A0D9-37E2-14E1-C872E43DB5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4098072"/>
              </p:ext>
            </p:extLst>
          </p:nvPr>
        </p:nvGraphicFramePr>
        <p:xfrm>
          <a:off x="644054" y="1229027"/>
          <a:ext cx="3701704" cy="1438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BD222-EE52-3BEB-D457-171B88B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F9ADA-6563-D05F-E0C6-FC4A3A0CCA28}"/>
              </a:ext>
            </a:extLst>
          </p:cNvPr>
          <p:cNvSpPr txBox="1"/>
          <p:nvPr/>
        </p:nvSpPr>
        <p:spPr>
          <a:xfrm>
            <a:off x="6438619" y="1044360"/>
            <a:ext cx="510932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8"/>
              </a:rPr>
              <a:t>Data Browser Disasters </a:t>
            </a:r>
            <a:r>
              <a:rPr lang="en-US" dirty="0"/>
              <a:t>– view data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60484-520F-A436-EFC7-A4E26AC6EF0B}"/>
              </a:ext>
            </a:extLst>
          </p:cNvPr>
          <p:cNvSpPr txBox="1"/>
          <p:nvPr/>
        </p:nvSpPr>
        <p:spPr>
          <a:xfrm>
            <a:off x="8993283" y="1555277"/>
            <a:ext cx="46379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Kyle – rsm0-10cm</a:t>
            </a:r>
          </a:p>
          <a:p>
            <a:r>
              <a:rPr lang="en-US" dirty="0"/>
              <a:t>Sam – rsm0-2m</a:t>
            </a:r>
          </a:p>
          <a:p>
            <a:r>
              <a:rPr lang="en-US" dirty="0"/>
              <a:t>Ethan – vsm0-100cm</a:t>
            </a:r>
          </a:p>
          <a:p>
            <a:r>
              <a:rPr lang="en-US" dirty="0"/>
              <a:t>Pooja – vsm0-10cm</a:t>
            </a:r>
          </a:p>
          <a:p>
            <a:r>
              <a:rPr lang="en-US" dirty="0"/>
              <a:t>Shwetha – vsm0-200cm</a:t>
            </a:r>
          </a:p>
          <a:p>
            <a:r>
              <a:rPr lang="en-US" dirty="0"/>
              <a:t>Neelam – vsm0-40cm</a:t>
            </a:r>
          </a:p>
        </p:txBody>
      </p:sp>
    </p:spTree>
    <p:extLst>
      <p:ext uri="{BB962C8B-B14F-4D97-AF65-F5344CB8AC3E}">
        <p14:creationId xmlns:p14="http://schemas.microsoft.com/office/powerpoint/2010/main" val="3257850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6C623-BFF7-48C4-5B1D-CF206636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C97C3-56AE-A6CF-6436-8CB49F8A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Config Troubleshooting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F60E9-9447-347B-9330-4A62AF626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30D7C-5AB7-227E-F6E6-5A843E9E7B77}"/>
              </a:ext>
            </a:extLst>
          </p:cNvPr>
          <p:cNvSpPr txBox="1"/>
          <p:nvPr/>
        </p:nvSpPr>
        <p:spPr>
          <a:xfrm>
            <a:off x="831803" y="1432874"/>
            <a:ext cx="6398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2"/>
              </a:rPr>
              <a:t>Time intervals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linkClick r:id="rId3"/>
              </a:rPr>
              <a:t>STAC Collection Conventions – VEDA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6769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F3E55-0F12-9898-2277-E48ABCF4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5455-8376-0A9A-85C5-AD8921E2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Time for Ingestion Practice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F670C-4A10-DEE2-431E-E1D20C4BB550}"/>
              </a:ext>
            </a:extLst>
          </p:cNvPr>
          <p:cNvSpPr txBox="1"/>
          <p:nvPr/>
        </p:nvSpPr>
        <p:spPr>
          <a:xfrm>
            <a:off x="433631" y="1888637"/>
            <a:ext cx="104920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Goal is to submit the job through Ingest API and Airflow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Why Ingest API – to save the asset name (otherwise Airflow makes it COG_DEFAULT) which is not desirable.</a:t>
            </a:r>
          </a:p>
          <a:p>
            <a:endParaRPr lang="en-US" sz="2000" dirty="0"/>
          </a:p>
          <a:p>
            <a:r>
              <a:rPr lang="en-US" sz="2000" dirty="0"/>
              <a:t>Step 1: Open </a:t>
            </a:r>
            <a:r>
              <a:rPr lang="en-US" sz="2000" dirty="0">
                <a:hlinkClick r:id="rId2"/>
              </a:rPr>
              <a:t>dev Ingest API</a:t>
            </a:r>
            <a:endParaRPr lang="en-US" sz="2000" dirty="0"/>
          </a:p>
          <a:p>
            <a:r>
              <a:rPr lang="en-US" sz="2000" dirty="0"/>
              <a:t>Step 2: Authorize (sign in)</a:t>
            </a:r>
          </a:p>
          <a:p>
            <a:r>
              <a:rPr lang="en-US" sz="2000" dirty="0"/>
              <a:t>Step 3: We want to post a collection, find that </a:t>
            </a:r>
          </a:p>
          <a:p>
            <a:r>
              <a:rPr lang="en-US" sz="2000" dirty="0"/>
              <a:t>Step 4: Click “Try it out”</a:t>
            </a:r>
          </a:p>
          <a:p>
            <a:r>
              <a:rPr lang="en-US" sz="2000" dirty="0"/>
              <a:t>Step 5: Copy the information from </a:t>
            </a:r>
            <a:r>
              <a:rPr lang="en-US" sz="2000" dirty="0" err="1"/>
              <a:t>json</a:t>
            </a:r>
            <a:r>
              <a:rPr lang="en-US" sz="2000" dirty="0"/>
              <a:t> config (but remove the discovery items)</a:t>
            </a:r>
          </a:p>
          <a:p>
            <a:r>
              <a:rPr lang="en-US" sz="2000" dirty="0"/>
              <a:t>Step 6: Click Execute (verify that collection was posted with response 200)</a:t>
            </a:r>
          </a:p>
          <a:p>
            <a:r>
              <a:rPr lang="en-US" sz="2000" dirty="0"/>
              <a:t>Step 7: View in </a:t>
            </a:r>
            <a:r>
              <a:rPr lang="en-US" sz="2000" dirty="0">
                <a:hlinkClick r:id="rId3"/>
              </a:rPr>
              <a:t>STAC Browser </a:t>
            </a:r>
            <a:r>
              <a:rPr lang="en-US" sz="2000" dirty="0"/>
              <a:t>based on collection ID. Or view in </a:t>
            </a:r>
            <a:r>
              <a:rPr lang="en-US" sz="2000" dirty="0">
                <a:hlinkClick r:id="rId4"/>
              </a:rPr>
              <a:t>VEDA STAC catalogue</a:t>
            </a:r>
            <a:r>
              <a:rPr lang="en-US" sz="2000" dirty="0"/>
              <a:t>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93CD929-A3C8-AEF0-0625-38B7FEDD7E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1783464"/>
              </p:ext>
            </p:extLst>
          </p:nvPr>
        </p:nvGraphicFramePr>
        <p:xfrm>
          <a:off x="8131348" y="1276161"/>
          <a:ext cx="3701704" cy="1438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C8104-571E-9F86-3A41-0D7013E0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27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5299-EE87-1BF8-4897-85D6B0B6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CBE4-00A9-B235-79D8-698CBD521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Time for Ingestion Practice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D5D5A-FF5A-7FDB-32D6-63A4480BC7B1}"/>
              </a:ext>
            </a:extLst>
          </p:cNvPr>
          <p:cNvSpPr txBox="1"/>
          <p:nvPr/>
        </p:nvSpPr>
        <p:spPr>
          <a:xfrm>
            <a:off x="348791" y="1895343"/>
            <a:ext cx="104920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Goal is to create a collection in Ingest API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Why Airflow? It has the ability to discover items in the S3 bucket and add them to the collection that we created. </a:t>
            </a:r>
          </a:p>
          <a:p>
            <a:endParaRPr lang="en-US" sz="2000" dirty="0"/>
          </a:p>
          <a:p>
            <a:r>
              <a:rPr lang="en-US" sz="2000" dirty="0"/>
              <a:t>Step 1: Open </a:t>
            </a:r>
            <a:r>
              <a:rPr lang="en-US" sz="2000" dirty="0">
                <a:hlinkClick r:id="rId2"/>
              </a:rPr>
              <a:t>Airflow dev </a:t>
            </a:r>
            <a:endParaRPr lang="en-US" sz="2000" dirty="0"/>
          </a:p>
          <a:p>
            <a:r>
              <a:rPr lang="en-US" sz="2000" dirty="0"/>
              <a:t>Step 2: Login (if necessary)</a:t>
            </a:r>
          </a:p>
          <a:p>
            <a:r>
              <a:rPr lang="en-US" sz="2000" dirty="0"/>
              <a:t>Step 3: Find </a:t>
            </a:r>
            <a:r>
              <a:rPr lang="en-US" sz="2000" dirty="0" err="1"/>
              <a:t>veda_discover</a:t>
            </a:r>
            <a:r>
              <a:rPr lang="en-US" sz="2000" dirty="0"/>
              <a:t> pipeline</a:t>
            </a:r>
          </a:p>
          <a:p>
            <a:r>
              <a:rPr lang="en-US" sz="2000" dirty="0"/>
              <a:t>Step 4: Press Run/Play button in the top right corner (Trigger DAG)</a:t>
            </a:r>
          </a:p>
          <a:p>
            <a:r>
              <a:rPr lang="en-US" sz="2000" dirty="0"/>
              <a:t>Step 5: Scroll to the bottom and click (Generated Configuration JSON and Dagrun Options)</a:t>
            </a:r>
          </a:p>
          <a:p>
            <a:r>
              <a:rPr lang="en-US" sz="2000" dirty="0"/>
              <a:t>Step 6: Paste the dictionary from </a:t>
            </a:r>
            <a:r>
              <a:rPr lang="en-US" sz="2000" dirty="0" err="1"/>
              <a:t>json</a:t>
            </a:r>
            <a:r>
              <a:rPr lang="en-US" sz="2000" dirty="0"/>
              <a:t> config for </a:t>
            </a:r>
            <a:r>
              <a:rPr lang="en-US" sz="2000" dirty="0" err="1"/>
              <a:t>discovery_items</a:t>
            </a:r>
            <a:r>
              <a:rPr lang="en-US" sz="2000" dirty="0"/>
              <a:t> (but only the contents, don’t paste the actual words discovery items).</a:t>
            </a:r>
          </a:p>
          <a:p>
            <a:r>
              <a:rPr lang="en-US" sz="2000" dirty="0"/>
              <a:t>Step 7: Submit the jobs</a:t>
            </a:r>
          </a:p>
          <a:p>
            <a:r>
              <a:rPr lang="en-US" sz="2000" dirty="0"/>
              <a:t>Step 8: If completed, you can now view the items in the </a:t>
            </a:r>
            <a:r>
              <a:rPr lang="en-US" sz="2000" dirty="0">
                <a:hlinkClick r:id="rId3"/>
              </a:rPr>
              <a:t>STAC Catalogue</a:t>
            </a:r>
            <a:r>
              <a:rPr lang="en-US" sz="2000" dirty="0"/>
              <a:t>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B02D34B-7CDF-E816-E7CC-98668E1DF6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044945"/>
              </p:ext>
            </p:extLst>
          </p:nvPr>
        </p:nvGraphicFramePr>
        <p:xfrm>
          <a:off x="7921544" y="1323295"/>
          <a:ext cx="3701704" cy="1438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A22CE-025C-9916-4CF1-877F8092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70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7A1B-5A1F-F0D8-D9B5-FB4E532C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CCDB0-DE86-F2B4-2F55-18C483D0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Visualization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C3604-5A2F-A647-7CB5-6DFA70144C56}"/>
              </a:ext>
            </a:extLst>
          </p:cNvPr>
          <p:cNvSpPr txBox="1"/>
          <p:nvPr/>
        </p:nvSpPr>
        <p:spPr>
          <a:xfrm>
            <a:off x="725863" y="1239651"/>
            <a:ext cx="104920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most things, we need a rapid testing environment which means we need to build the application on a local host. Most VEDA repos have this information within the README (or linked to it).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Disaster local install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 sure that you are in the home directory of the repo (e.g., </a:t>
            </a:r>
            <a:r>
              <a:rPr lang="en-US" dirty="0" err="1"/>
              <a:t>veda</a:t>
            </a:r>
            <a:r>
              <a:rPr lang="en-US" dirty="0"/>
              <a:t>-disasters)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 the instructions and then you should be able to run the application locally. This will enable rapid checks to see if anything breaks.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125EF-D88E-10D6-5A6B-1DE26F64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27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50F3-AD51-5118-977D-44167229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277B-BCC0-A7B5-B496-B30520DB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3" y="1"/>
            <a:ext cx="10897385" cy="961534"/>
          </a:xfr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Troubleshooting Visualization Issues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65752-D2F9-9B0B-0B1E-E803579C0422}"/>
              </a:ext>
            </a:extLst>
          </p:cNvPr>
          <p:cNvSpPr txBox="1"/>
          <p:nvPr/>
        </p:nvSpPr>
        <p:spPr>
          <a:xfrm>
            <a:off x="725863" y="1239651"/>
            <a:ext cx="1049203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visualization software (</a:t>
            </a:r>
            <a:r>
              <a:rPr lang="en-US" dirty="0" err="1"/>
              <a:t>Titiler</a:t>
            </a:r>
            <a:r>
              <a:rPr lang="en-US" dirty="0"/>
              <a:t>), receives API requests and send back the different image tiles to render on screen.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identify what is being returned, the </a:t>
            </a:r>
            <a:r>
              <a:rPr lang="en-US" b="1" i="1" dirty="0"/>
              <a:t>Inspect </a:t>
            </a:r>
            <a:r>
              <a:rPr lang="en-US" dirty="0"/>
              <a:t>button is crucial within the internet browser. </a:t>
            </a:r>
            <a:r>
              <a:rPr lang="en-US" dirty="0">
                <a:hlinkClick r:id="rId2"/>
              </a:rPr>
              <a:t>Example E&amp;A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Right click in the browser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Select [ Inspect 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Click [ Network ] tab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should now see the different requests (sometimes you need to zoom in and out of the image)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see the STAC collection that is being called, in the filter search bar type </a:t>
            </a:r>
            <a:r>
              <a:rPr lang="en-US" b="1" dirty="0" err="1"/>
              <a:t>stac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Refresh the page and you should see the STAC collection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Fun fact: You can double click on it and it will take you to the STAC collection!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no data is rendering after you created a .mdx file, then there is likely something wrong with the .mdx, this can sometimes be diagnosed in the Inspect bar in browser.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see the data visualized in your local development but not within the pull request (PR), then it is likely the environment STAC not being correct. (file </a:t>
            </a:r>
            <a:r>
              <a:rPr lang="en-US" b="1" dirty="0"/>
              <a:t>.env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B2AD2-8E94-D578-4E4D-180EEBE5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8F90B-7FA5-3745-B8A4-A3C1EAD30D9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3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3293</TotalTime>
  <Words>2227</Words>
  <Application>Microsoft Macintosh PowerPoint</Application>
  <PresentationFormat>Widescreen</PresentationFormat>
  <Paragraphs>317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Overview of Data Indexing and Ingestion in VEDA</vt:lpstr>
      <vt:lpstr>Purpose of Data Indexing/Ingestion </vt:lpstr>
      <vt:lpstr>Data indexing vs. ingestion </vt:lpstr>
      <vt:lpstr>Tiling visualization software (Dev Seed)</vt:lpstr>
      <vt:lpstr>Development, Staging, Production </vt:lpstr>
      <vt:lpstr>STAC Catalogues </vt:lpstr>
      <vt:lpstr>Git and Github </vt:lpstr>
      <vt:lpstr>Ingesting Data (VEDA dev) </vt:lpstr>
      <vt:lpstr>When to use Ingest API? </vt:lpstr>
      <vt:lpstr>When to use Airflow? </vt:lpstr>
      <vt:lpstr>When to use Ingest UI? </vt:lpstr>
      <vt:lpstr>Workflow for ingesting files from S3</vt:lpstr>
      <vt:lpstr>Important things for data preparation </vt:lpstr>
      <vt:lpstr>Additional important information </vt:lpstr>
      <vt:lpstr>Troubleshooting  in Airflow</vt:lpstr>
      <vt:lpstr>Links, more links, and additional links </vt:lpstr>
      <vt:lpstr>Data Pipeline – From Ingest to Visualization </vt:lpstr>
      <vt:lpstr>Visualization </vt:lpstr>
      <vt:lpstr>Ingestion example – Disaster ESI data </vt:lpstr>
      <vt:lpstr>Time for Ingestion Practice </vt:lpstr>
      <vt:lpstr>Config Troubleshooting </vt:lpstr>
      <vt:lpstr>Time for Ingestion Practice </vt:lpstr>
      <vt:lpstr>Time for Ingestion Practice </vt:lpstr>
      <vt:lpstr>Visualization </vt:lpstr>
      <vt:lpstr>Troubleshooting Visualization Issues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D Lesinger</dc:creator>
  <cp:lastModifiedBy>Kyle D Lesinger</cp:lastModifiedBy>
  <cp:revision>40</cp:revision>
  <dcterms:created xsi:type="dcterms:W3CDTF">2025-09-08T16:03:22Z</dcterms:created>
  <dcterms:modified xsi:type="dcterms:W3CDTF">2025-09-11T14:14:45Z</dcterms:modified>
</cp:coreProperties>
</file>